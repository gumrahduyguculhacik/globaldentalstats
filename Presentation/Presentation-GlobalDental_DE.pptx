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73" r:id="rId3"/>
    <p:sldId id="258" r:id="rId4"/>
    <p:sldId id="259" r:id="rId5"/>
    <p:sldId id="260" r:id="rId6"/>
    <p:sldId id="269" r:id="rId7"/>
    <p:sldId id="270" r:id="rId8"/>
    <p:sldId id="263" r:id="rId9"/>
    <p:sldId id="262" r:id="rId10"/>
    <p:sldId id="271" r:id="rId11"/>
    <p:sldId id="265" r:id="rId12"/>
    <p:sldId id="264" r:id="rId13"/>
    <p:sldId id="275" r:id="rId14"/>
    <p:sldId id="272" r:id="rId15"/>
    <p:sldId id="266" r:id="rId16"/>
    <p:sldId id="267" r:id="rId17"/>
  </p:sldIdLst>
  <p:sldSz cx="18288000" cy="10287000"/>
  <p:notesSz cx="6858000" cy="9144000"/>
  <p:embeddedFontLst>
    <p:embeddedFont>
      <p:font typeface="Cormorant Garamond Bold Italics" panose="020B0604020202020204" charset="0"/>
      <p:regular r:id="rId19"/>
    </p:embeddedFont>
    <p:embeddedFont>
      <p:font typeface="Quicksand" panose="020B0604020202020204" charset="0"/>
      <p:regular r:id="rId20"/>
    </p:embeddedFont>
    <p:embeddedFont>
      <p:font typeface="Quicksand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197"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srin Çelebioğlu" userId="405ed7fe654a4b9c" providerId="LiveId" clId="{9F8727AB-3462-4CDD-A98E-048C154C9689}"/>
    <pc:docChg chg="undo custSel addSld delSld modSld sldOrd">
      <pc:chgData name="Nesrin Çelebioğlu" userId="405ed7fe654a4b9c" providerId="LiveId" clId="{9F8727AB-3462-4CDD-A98E-048C154C9689}" dt="2025-09-30T13:17:21.934" v="214" actId="12"/>
      <pc:docMkLst>
        <pc:docMk/>
      </pc:docMkLst>
      <pc:sldChg chg="addSp delSp modSp mod">
        <pc:chgData name="Nesrin Çelebioğlu" userId="405ed7fe654a4b9c" providerId="LiveId" clId="{9F8727AB-3462-4CDD-A98E-048C154C9689}" dt="2025-09-30T11:50:20.814" v="37" actId="1076"/>
        <pc:sldMkLst>
          <pc:docMk/>
          <pc:sldMk cId="0" sldId="258"/>
        </pc:sldMkLst>
        <pc:spChg chg="mod">
          <ac:chgData name="Nesrin Çelebioğlu" userId="405ed7fe654a4b9c" providerId="LiveId" clId="{9F8727AB-3462-4CDD-A98E-048C154C9689}" dt="2025-09-30T11:50:20.814" v="37" actId="1076"/>
          <ac:spMkLst>
            <pc:docMk/>
            <pc:sldMk cId="0" sldId="258"/>
            <ac:spMk id="6" creationId="{00000000-0000-0000-0000-000000000000}"/>
          </ac:spMkLst>
        </pc:spChg>
        <pc:picChg chg="add del mod">
          <ac:chgData name="Nesrin Çelebioğlu" userId="405ed7fe654a4b9c" providerId="LiveId" clId="{9F8727AB-3462-4CDD-A98E-048C154C9689}" dt="2025-09-30T11:41:52.357" v="1" actId="478"/>
          <ac:picMkLst>
            <pc:docMk/>
            <pc:sldMk cId="0" sldId="258"/>
            <ac:picMk id="10" creationId="{9C5D00D9-B7CA-D261-D254-5E28662265CB}"/>
          </ac:picMkLst>
        </pc:picChg>
        <pc:picChg chg="add del mod">
          <ac:chgData name="Nesrin Çelebioğlu" userId="405ed7fe654a4b9c" providerId="LiveId" clId="{9F8727AB-3462-4CDD-A98E-048C154C9689}" dt="2025-09-30T11:42:10.446" v="4" actId="478"/>
          <ac:picMkLst>
            <pc:docMk/>
            <pc:sldMk cId="0" sldId="258"/>
            <ac:picMk id="12" creationId="{52D6A63B-DAC5-B47D-754B-5E5475E424CD}"/>
          </ac:picMkLst>
        </pc:picChg>
        <pc:picChg chg="add del mod">
          <ac:chgData name="Nesrin Çelebioğlu" userId="405ed7fe654a4b9c" providerId="LiveId" clId="{9F8727AB-3462-4CDD-A98E-048C154C9689}" dt="2025-09-30T11:43:14.013" v="7" actId="478"/>
          <ac:picMkLst>
            <pc:docMk/>
            <pc:sldMk cId="0" sldId="258"/>
            <ac:picMk id="14" creationId="{79D9410E-119A-B603-D7E9-1C064706932B}"/>
          </ac:picMkLst>
        </pc:picChg>
        <pc:picChg chg="add mod">
          <ac:chgData name="Nesrin Çelebioğlu" userId="405ed7fe654a4b9c" providerId="LiveId" clId="{9F8727AB-3462-4CDD-A98E-048C154C9689}" dt="2025-09-30T11:44:45.440" v="21" actId="14861"/>
          <ac:picMkLst>
            <pc:docMk/>
            <pc:sldMk cId="0" sldId="258"/>
            <ac:picMk id="17" creationId="{A05BD2A5-0D4C-7CB0-D070-99AEEC94047E}"/>
          </ac:picMkLst>
        </pc:picChg>
      </pc:sldChg>
      <pc:sldChg chg="modSp mod">
        <pc:chgData name="Nesrin Çelebioğlu" userId="405ed7fe654a4b9c" providerId="LiveId" clId="{9F8727AB-3462-4CDD-A98E-048C154C9689}" dt="2025-09-30T11:51:50.685" v="48" actId="1036"/>
        <pc:sldMkLst>
          <pc:docMk/>
          <pc:sldMk cId="0" sldId="260"/>
        </pc:sldMkLst>
        <pc:spChg chg="mod">
          <ac:chgData name="Nesrin Çelebioğlu" userId="405ed7fe654a4b9c" providerId="LiveId" clId="{9F8727AB-3462-4CDD-A98E-048C154C9689}" dt="2025-09-30T11:51:47.575" v="47" actId="1035"/>
          <ac:spMkLst>
            <pc:docMk/>
            <pc:sldMk cId="0" sldId="260"/>
            <ac:spMk id="13" creationId="{00000000-0000-0000-0000-000000000000}"/>
          </ac:spMkLst>
        </pc:spChg>
        <pc:spChg chg="mod">
          <ac:chgData name="Nesrin Çelebioğlu" userId="405ed7fe654a4b9c" providerId="LiveId" clId="{9F8727AB-3462-4CDD-A98E-048C154C9689}" dt="2025-09-30T11:51:50.685" v="48" actId="1036"/>
          <ac:spMkLst>
            <pc:docMk/>
            <pc:sldMk cId="0" sldId="260"/>
            <ac:spMk id="14" creationId="{00000000-0000-0000-0000-000000000000}"/>
          </ac:spMkLst>
        </pc:spChg>
        <pc:picChg chg="mod">
          <ac:chgData name="Nesrin Çelebioğlu" userId="405ed7fe654a4b9c" providerId="LiveId" clId="{9F8727AB-3462-4CDD-A98E-048C154C9689}" dt="2025-09-30T11:51:07.993" v="40" actId="14861"/>
          <ac:picMkLst>
            <pc:docMk/>
            <pc:sldMk cId="0" sldId="260"/>
            <ac:picMk id="3" creationId="{1F8684A5-CD16-D07D-7724-D95DBA2BBCE9}"/>
          </ac:picMkLst>
        </pc:picChg>
      </pc:sldChg>
      <pc:sldChg chg="addSp delSp modSp mod">
        <pc:chgData name="Nesrin Çelebioğlu" userId="405ed7fe654a4b9c" providerId="LiveId" clId="{9F8727AB-3462-4CDD-A98E-048C154C9689}" dt="2025-09-30T12:50:44.889" v="208" actId="478"/>
        <pc:sldMkLst>
          <pc:docMk/>
          <pc:sldMk cId="0" sldId="262"/>
        </pc:sldMkLst>
        <pc:spChg chg="mod">
          <ac:chgData name="Nesrin Çelebioğlu" userId="405ed7fe654a4b9c" providerId="LiveId" clId="{9F8727AB-3462-4CDD-A98E-048C154C9689}" dt="2025-09-30T11:52:56.192" v="64" actId="1036"/>
          <ac:spMkLst>
            <pc:docMk/>
            <pc:sldMk cId="0" sldId="262"/>
            <ac:spMk id="15" creationId="{00000000-0000-0000-0000-000000000000}"/>
          </ac:spMkLst>
        </pc:spChg>
        <pc:picChg chg="mod">
          <ac:chgData name="Nesrin Çelebioğlu" userId="405ed7fe654a4b9c" providerId="LiveId" clId="{9F8727AB-3462-4CDD-A98E-048C154C9689}" dt="2025-09-30T11:53:25.408" v="68" actId="14861"/>
          <ac:picMkLst>
            <pc:docMk/>
            <pc:sldMk cId="0" sldId="262"/>
            <ac:picMk id="3" creationId="{0FC16000-C41E-BC8D-97B6-73A7A4CE3D15}"/>
          </ac:picMkLst>
        </pc:picChg>
        <pc:picChg chg="mod">
          <ac:chgData name="Nesrin Çelebioğlu" userId="405ed7fe654a4b9c" providerId="LiveId" clId="{9F8727AB-3462-4CDD-A98E-048C154C9689}" dt="2025-09-30T11:53:31.020" v="69" actId="14861"/>
          <ac:picMkLst>
            <pc:docMk/>
            <pc:sldMk cId="0" sldId="262"/>
            <ac:picMk id="17" creationId="{31978233-DCD3-3258-B866-B4A201C40BDE}"/>
          </ac:picMkLst>
        </pc:picChg>
        <pc:picChg chg="add del mod">
          <ac:chgData name="Nesrin Çelebioğlu" userId="405ed7fe654a4b9c" providerId="LiveId" clId="{9F8727AB-3462-4CDD-A98E-048C154C9689}" dt="2025-09-30T12:50:44.889" v="208" actId="478"/>
          <ac:picMkLst>
            <pc:docMk/>
            <pc:sldMk cId="0" sldId="262"/>
            <ac:picMk id="2050" creationId="{62CDF961-D695-39C0-9446-8A8082150775}"/>
          </ac:picMkLst>
        </pc:picChg>
      </pc:sldChg>
      <pc:sldChg chg="addSp delSp modSp mod modNotesTx">
        <pc:chgData name="Nesrin Çelebioğlu" userId="405ed7fe654a4b9c" providerId="LiveId" clId="{9F8727AB-3462-4CDD-A98E-048C154C9689}" dt="2025-09-30T12:30:37.206" v="201" actId="20577"/>
        <pc:sldMkLst>
          <pc:docMk/>
          <pc:sldMk cId="0" sldId="264"/>
        </pc:sldMkLst>
        <pc:picChg chg="add del mod">
          <ac:chgData name="Nesrin Çelebioğlu" userId="405ed7fe654a4b9c" providerId="LiveId" clId="{9F8727AB-3462-4CDD-A98E-048C154C9689}" dt="2025-09-30T11:57:22.597" v="79" actId="478"/>
          <ac:picMkLst>
            <pc:docMk/>
            <pc:sldMk cId="0" sldId="264"/>
            <ac:picMk id="3" creationId="{D068EE76-7EF6-E2DB-B14A-D3051AB593CC}"/>
          </ac:picMkLst>
        </pc:picChg>
        <pc:picChg chg="add mod">
          <ac:chgData name="Nesrin Çelebioğlu" userId="405ed7fe654a4b9c" providerId="LiveId" clId="{9F8727AB-3462-4CDD-A98E-048C154C9689}" dt="2025-09-30T11:58:22.340" v="83" actId="14861"/>
          <ac:picMkLst>
            <pc:docMk/>
            <pc:sldMk cId="0" sldId="264"/>
            <ac:picMk id="5" creationId="{E1813073-D12C-203C-6927-4ECFE1BEE410}"/>
          </ac:picMkLst>
        </pc:picChg>
        <pc:picChg chg="mod">
          <ac:chgData name="Nesrin Çelebioğlu" userId="405ed7fe654a4b9c" providerId="LiveId" clId="{9F8727AB-3462-4CDD-A98E-048C154C9689}" dt="2025-09-30T11:58:27.776" v="84" actId="14861"/>
          <ac:picMkLst>
            <pc:docMk/>
            <pc:sldMk cId="0" sldId="264"/>
            <ac:picMk id="18" creationId="{35BFDE62-F309-3BE1-3472-3B09F97E478F}"/>
          </ac:picMkLst>
        </pc:picChg>
      </pc:sldChg>
      <pc:sldChg chg="addSp delSp modSp mod">
        <pc:chgData name="Nesrin Çelebioğlu" userId="405ed7fe654a4b9c" providerId="LiveId" clId="{9F8727AB-3462-4CDD-A98E-048C154C9689}" dt="2025-09-30T11:54:50.409" v="75" actId="14861"/>
        <pc:sldMkLst>
          <pc:docMk/>
          <pc:sldMk cId="0" sldId="265"/>
        </pc:sldMkLst>
        <pc:spChg chg="mod">
          <ac:chgData name="Nesrin Çelebioğlu" userId="405ed7fe654a4b9c" providerId="LiveId" clId="{9F8727AB-3462-4CDD-A98E-048C154C9689}" dt="2025-09-30T11:50:04.264" v="36" actId="1076"/>
          <ac:spMkLst>
            <pc:docMk/>
            <pc:sldMk cId="0" sldId="265"/>
            <ac:spMk id="10" creationId="{00000000-0000-0000-0000-000000000000}"/>
          </ac:spMkLst>
        </pc:spChg>
        <pc:grpChg chg="del">
          <ac:chgData name="Nesrin Çelebioğlu" userId="405ed7fe654a4b9c" providerId="LiveId" clId="{9F8727AB-3462-4CDD-A98E-048C154C9689}" dt="2025-09-30T11:49:40.826" v="30" actId="478"/>
          <ac:grpSpMkLst>
            <pc:docMk/>
            <pc:sldMk cId="0" sldId="265"/>
            <ac:grpSpMk id="2" creationId="{00000000-0000-0000-0000-000000000000}"/>
          </ac:grpSpMkLst>
        </pc:grpChg>
        <pc:grpChg chg="del">
          <ac:chgData name="Nesrin Çelebioğlu" userId="405ed7fe654a4b9c" providerId="LiveId" clId="{9F8727AB-3462-4CDD-A98E-048C154C9689}" dt="2025-09-30T11:49:46.138" v="33" actId="478"/>
          <ac:grpSpMkLst>
            <pc:docMk/>
            <pc:sldMk cId="0" sldId="265"/>
            <ac:grpSpMk id="16" creationId="{D9B1DCAD-B1E6-7610-8739-BC0FA45ADB70}"/>
          </ac:grpSpMkLst>
        </pc:grpChg>
        <pc:picChg chg="mod">
          <ac:chgData name="Nesrin Çelebioğlu" userId="405ed7fe654a4b9c" providerId="LiveId" clId="{9F8727AB-3462-4CDD-A98E-048C154C9689}" dt="2025-09-30T11:54:42.142" v="73" actId="14861"/>
          <ac:picMkLst>
            <pc:docMk/>
            <pc:sldMk cId="0" sldId="265"/>
            <ac:picMk id="6" creationId="{6D2F585A-8DB6-E81B-262D-F515A5AD7D4C}"/>
          </ac:picMkLst>
        </pc:picChg>
        <pc:picChg chg="add mod">
          <ac:chgData name="Nesrin Çelebioğlu" userId="405ed7fe654a4b9c" providerId="LiveId" clId="{9F8727AB-3462-4CDD-A98E-048C154C9689}" dt="2025-09-30T11:54:50.409" v="75" actId="14861"/>
          <ac:picMkLst>
            <pc:docMk/>
            <pc:sldMk cId="0" sldId="265"/>
            <ac:picMk id="7" creationId="{843CBEA3-0A3C-CB4C-ACAA-976E5E9E1B08}"/>
          </ac:picMkLst>
        </pc:picChg>
        <pc:picChg chg="del">
          <ac:chgData name="Nesrin Çelebioğlu" userId="405ed7fe654a4b9c" providerId="LiveId" clId="{9F8727AB-3462-4CDD-A98E-048C154C9689}" dt="2025-09-30T11:49:18.508" v="22" actId="478"/>
          <ac:picMkLst>
            <pc:docMk/>
            <pc:sldMk cId="0" sldId="265"/>
            <ac:picMk id="8" creationId="{3B65FAF6-F41F-38C4-3D69-61625642980B}"/>
          </ac:picMkLst>
        </pc:picChg>
      </pc:sldChg>
      <pc:sldChg chg="modSp mod">
        <pc:chgData name="Nesrin Çelebioğlu" userId="405ed7fe654a4b9c" providerId="LiveId" clId="{9F8727AB-3462-4CDD-A98E-048C154C9689}" dt="2025-09-30T11:51:43.400" v="46" actId="1036"/>
        <pc:sldMkLst>
          <pc:docMk/>
          <pc:sldMk cId="2004573942" sldId="269"/>
        </pc:sldMkLst>
        <pc:spChg chg="mod">
          <ac:chgData name="Nesrin Çelebioğlu" userId="405ed7fe654a4b9c" providerId="LiveId" clId="{9F8727AB-3462-4CDD-A98E-048C154C9689}" dt="2025-09-30T11:51:39.372" v="44" actId="1035"/>
          <ac:spMkLst>
            <pc:docMk/>
            <pc:sldMk cId="2004573942" sldId="269"/>
            <ac:spMk id="13" creationId="{D95CF100-4A94-2199-7708-4B16B5513C07}"/>
          </ac:spMkLst>
        </pc:spChg>
        <pc:spChg chg="mod">
          <ac:chgData name="Nesrin Çelebioğlu" userId="405ed7fe654a4b9c" providerId="LiveId" clId="{9F8727AB-3462-4CDD-A98E-048C154C9689}" dt="2025-09-30T11:51:43.400" v="46" actId="1036"/>
          <ac:spMkLst>
            <pc:docMk/>
            <pc:sldMk cId="2004573942" sldId="269"/>
            <ac:spMk id="14" creationId="{BE09FB69-657D-A605-F185-B00360085886}"/>
          </ac:spMkLst>
        </pc:spChg>
        <pc:picChg chg="mod">
          <ac:chgData name="Nesrin Çelebioğlu" userId="405ed7fe654a4b9c" providerId="LiveId" clId="{9F8727AB-3462-4CDD-A98E-048C154C9689}" dt="2025-09-30T11:51:36.409" v="42" actId="14861"/>
          <ac:picMkLst>
            <pc:docMk/>
            <pc:sldMk cId="2004573942" sldId="269"/>
            <ac:picMk id="4" creationId="{7049DFBF-B744-1121-172C-009CCCAC1CEA}"/>
          </ac:picMkLst>
        </pc:picChg>
      </pc:sldChg>
      <pc:sldChg chg="modSp mod modNotesTx">
        <pc:chgData name="Nesrin Çelebioğlu" userId="405ed7fe654a4b9c" providerId="LiveId" clId="{9F8727AB-3462-4CDD-A98E-048C154C9689}" dt="2025-09-30T12:53:35.123" v="209" actId="12"/>
        <pc:sldMkLst>
          <pc:docMk/>
          <pc:sldMk cId="2900807207" sldId="270"/>
        </pc:sldMkLst>
        <pc:spChg chg="mod">
          <ac:chgData name="Nesrin Çelebioğlu" userId="405ed7fe654a4b9c" providerId="LiveId" clId="{9F8727AB-3462-4CDD-A98E-048C154C9689}" dt="2025-09-30T11:52:24.262" v="55" actId="1035"/>
          <ac:spMkLst>
            <pc:docMk/>
            <pc:sldMk cId="2900807207" sldId="270"/>
            <ac:spMk id="13" creationId="{7B02DE9F-6957-BB8C-724F-7886579A088F}"/>
          </ac:spMkLst>
        </pc:spChg>
        <pc:spChg chg="mod">
          <ac:chgData name="Nesrin Çelebioğlu" userId="405ed7fe654a4b9c" providerId="LiveId" clId="{9F8727AB-3462-4CDD-A98E-048C154C9689}" dt="2025-09-30T11:52:28.131" v="61" actId="1037"/>
          <ac:spMkLst>
            <pc:docMk/>
            <pc:sldMk cId="2900807207" sldId="270"/>
            <ac:spMk id="14" creationId="{753BAD42-90A8-E621-9F6F-297C54FCD820}"/>
          </ac:spMkLst>
        </pc:spChg>
        <pc:picChg chg="mod">
          <ac:chgData name="Nesrin Çelebioğlu" userId="405ed7fe654a4b9c" providerId="LiveId" clId="{9F8727AB-3462-4CDD-A98E-048C154C9689}" dt="2025-09-30T11:52:41.792" v="62" actId="14100"/>
          <ac:picMkLst>
            <pc:docMk/>
            <pc:sldMk cId="2900807207" sldId="270"/>
            <ac:picMk id="3" creationId="{879BA452-B4D2-9384-E262-E939AF68C8E4}"/>
          </ac:picMkLst>
        </pc:picChg>
      </pc:sldChg>
      <pc:sldChg chg="modSp mod modNotesTx">
        <pc:chgData name="Nesrin Çelebioğlu" userId="405ed7fe654a4b9c" providerId="LiveId" clId="{9F8727AB-3462-4CDD-A98E-048C154C9689}" dt="2025-09-30T12:41:56.111" v="202" actId="20577"/>
        <pc:sldMkLst>
          <pc:docMk/>
          <pc:sldMk cId="1662547811" sldId="271"/>
        </pc:sldMkLst>
        <pc:spChg chg="mod">
          <ac:chgData name="Nesrin Çelebioğlu" userId="405ed7fe654a4b9c" providerId="LiveId" clId="{9F8727AB-3462-4CDD-A98E-048C154C9689}" dt="2025-09-30T11:54:00.837" v="72" actId="1076"/>
          <ac:spMkLst>
            <pc:docMk/>
            <pc:sldMk cId="1662547811" sldId="271"/>
            <ac:spMk id="15" creationId="{28681E49-131D-F7BF-02A3-526CEE833FF0}"/>
          </ac:spMkLst>
        </pc:spChg>
        <pc:picChg chg="mod">
          <ac:chgData name="Nesrin Çelebioğlu" userId="405ed7fe654a4b9c" providerId="LiveId" clId="{9F8727AB-3462-4CDD-A98E-048C154C9689}" dt="2025-09-30T11:53:56.547" v="71" actId="14861"/>
          <ac:picMkLst>
            <pc:docMk/>
            <pc:sldMk cId="1662547811" sldId="271"/>
            <ac:picMk id="3" creationId="{B8ED4222-7D9A-780F-DF1C-D94A1564AC96}"/>
          </ac:picMkLst>
        </pc:picChg>
        <pc:picChg chg="mod">
          <ac:chgData name="Nesrin Çelebioğlu" userId="405ed7fe654a4b9c" providerId="LiveId" clId="{9F8727AB-3462-4CDD-A98E-048C154C9689}" dt="2025-09-30T11:53:48.496" v="70" actId="14861"/>
          <ac:picMkLst>
            <pc:docMk/>
            <pc:sldMk cId="1662547811" sldId="271"/>
            <ac:picMk id="8" creationId="{F97CDEF3-9191-0323-01CE-86F9D066A40C}"/>
          </ac:picMkLst>
        </pc:picChg>
      </pc:sldChg>
      <pc:sldChg chg="addSp delSp modSp mod modNotesTx">
        <pc:chgData name="Nesrin Çelebioğlu" userId="405ed7fe654a4b9c" providerId="LiveId" clId="{9F8727AB-3462-4CDD-A98E-048C154C9689}" dt="2025-09-30T13:17:21.934" v="214" actId="12"/>
        <pc:sldMkLst>
          <pc:docMk/>
          <pc:sldMk cId="1927497036" sldId="272"/>
        </pc:sldMkLst>
        <pc:spChg chg="mod">
          <ac:chgData name="Nesrin Çelebioğlu" userId="405ed7fe654a4b9c" providerId="LiveId" clId="{9F8727AB-3462-4CDD-A98E-048C154C9689}" dt="2025-09-30T12:00:57.607" v="108" actId="14100"/>
          <ac:spMkLst>
            <pc:docMk/>
            <pc:sldMk cId="1927497036" sldId="272"/>
            <ac:spMk id="25" creationId="{AC67CCEE-ED5B-93E7-493A-233DCF44E04B}"/>
          </ac:spMkLst>
        </pc:spChg>
        <pc:spChg chg="add del mod topLvl">
          <ac:chgData name="Nesrin Çelebioğlu" userId="405ed7fe654a4b9c" providerId="LiveId" clId="{9F8727AB-3462-4CDD-A98E-048C154C9689}" dt="2025-09-30T12:11:11.471" v="137" actId="478"/>
          <ac:spMkLst>
            <pc:docMk/>
            <pc:sldMk cId="1927497036" sldId="272"/>
            <ac:spMk id="28" creationId="{B6385E52-5767-277B-C8BA-E2ADCA39171B}"/>
          </ac:spMkLst>
        </pc:spChg>
        <pc:spChg chg="mod topLvl">
          <ac:chgData name="Nesrin Çelebioğlu" userId="405ed7fe654a4b9c" providerId="LiveId" clId="{9F8727AB-3462-4CDD-A98E-048C154C9689}" dt="2025-09-30T12:11:11.471" v="137" actId="478"/>
          <ac:spMkLst>
            <pc:docMk/>
            <pc:sldMk cId="1927497036" sldId="272"/>
            <ac:spMk id="29" creationId="{C979806D-1FC0-B227-FAB0-6967BE1ECCF9}"/>
          </ac:spMkLst>
        </pc:spChg>
        <pc:grpChg chg="del">
          <ac:chgData name="Nesrin Çelebioğlu" userId="405ed7fe654a4b9c" providerId="LiveId" clId="{9F8727AB-3462-4CDD-A98E-048C154C9689}" dt="2025-09-30T12:04:12.867" v="126" actId="478"/>
          <ac:grpSpMkLst>
            <pc:docMk/>
            <pc:sldMk cId="1927497036" sldId="272"/>
            <ac:grpSpMk id="6" creationId="{7550DF71-F034-9A3F-6034-B476A33206F8}"/>
          </ac:grpSpMkLst>
        </pc:grpChg>
        <pc:grpChg chg="mod">
          <ac:chgData name="Nesrin Çelebioğlu" userId="405ed7fe654a4b9c" providerId="LiveId" clId="{9F8727AB-3462-4CDD-A98E-048C154C9689}" dt="2025-09-30T12:12:59.892" v="146" actId="1036"/>
          <ac:grpSpMkLst>
            <pc:docMk/>
            <pc:sldMk cId="1927497036" sldId="272"/>
            <ac:grpSpMk id="10" creationId="{E4176C7D-B91C-2308-05CE-DC1A3BE7D8FB}"/>
          </ac:grpSpMkLst>
        </pc:grpChg>
        <pc:grpChg chg="add del mod">
          <ac:chgData name="Nesrin Çelebioğlu" userId="405ed7fe654a4b9c" providerId="LiveId" clId="{9F8727AB-3462-4CDD-A98E-048C154C9689}" dt="2025-09-30T12:12:51.239" v="143" actId="14100"/>
          <ac:grpSpMkLst>
            <pc:docMk/>
            <pc:sldMk cId="1927497036" sldId="272"/>
            <ac:grpSpMk id="27" creationId="{191F8BBA-58A0-8E34-5F58-0DE14D25E0DE}"/>
          </ac:grpSpMkLst>
        </pc:grpChg>
        <pc:picChg chg="del">
          <ac:chgData name="Nesrin Çelebioğlu" userId="405ed7fe654a4b9c" providerId="LiveId" clId="{9F8727AB-3462-4CDD-A98E-048C154C9689}" dt="2025-09-30T12:02:05.752" v="109" actId="478"/>
          <ac:picMkLst>
            <pc:docMk/>
            <pc:sldMk cId="1927497036" sldId="272"/>
            <ac:picMk id="3" creationId="{F9B588D5-1605-ACB3-4B7B-977B3EBE43C9}"/>
          </ac:picMkLst>
        </pc:picChg>
        <pc:picChg chg="add del mod">
          <ac:chgData name="Nesrin Çelebioğlu" userId="405ed7fe654a4b9c" providerId="LiveId" clId="{9F8727AB-3462-4CDD-A98E-048C154C9689}" dt="2025-09-30T12:10:36.336" v="130" actId="478"/>
          <ac:picMkLst>
            <pc:docMk/>
            <pc:sldMk cId="1927497036" sldId="272"/>
            <ac:picMk id="4" creationId="{DB91CC01-4F4C-7D49-20D3-1E33EF1172A6}"/>
          </ac:picMkLst>
        </pc:picChg>
        <pc:picChg chg="mod">
          <ac:chgData name="Nesrin Çelebioğlu" userId="405ed7fe654a4b9c" providerId="LiveId" clId="{9F8727AB-3462-4CDD-A98E-048C154C9689}" dt="2025-09-30T12:12:40.663" v="142" actId="14861"/>
          <ac:picMkLst>
            <pc:docMk/>
            <pc:sldMk cId="1927497036" sldId="272"/>
            <ac:picMk id="5" creationId="{C77F921C-0D16-4435-BBC5-6D377BCBBC08}"/>
          </ac:picMkLst>
        </pc:picChg>
        <pc:picChg chg="add del mod">
          <ac:chgData name="Nesrin Çelebioğlu" userId="405ed7fe654a4b9c" providerId="LiveId" clId="{9F8727AB-3462-4CDD-A98E-048C154C9689}" dt="2025-09-30T12:04:01.144" v="123" actId="478"/>
          <ac:picMkLst>
            <pc:docMk/>
            <pc:sldMk cId="1927497036" sldId="272"/>
            <ac:picMk id="13" creationId="{2600653C-EBB1-B15C-A89A-EA5E371CD270}"/>
          </ac:picMkLst>
        </pc:picChg>
        <pc:picChg chg="add mod">
          <ac:chgData name="Nesrin Çelebioğlu" userId="405ed7fe654a4b9c" providerId="LiveId" clId="{9F8727AB-3462-4CDD-A98E-048C154C9689}" dt="2025-09-30T12:10:54.380" v="135" actId="1076"/>
          <ac:picMkLst>
            <pc:docMk/>
            <pc:sldMk cId="1927497036" sldId="272"/>
            <ac:picMk id="15" creationId="{B317275A-EA2A-BD94-45B4-DC6CBD68C6B5}"/>
          </ac:picMkLst>
        </pc:picChg>
        <pc:picChg chg="add mod">
          <ac:chgData name="Nesrin Çelebioğlu" userId="405ed7fe654a4b9c" providerId="LiveId" clId="{9F8727AB-3462-4CDD-A98E-048C154C9689}" dt="2025-09-30T12:12:27.544" v="141" actId="14861"/>
          <ac:picMkLst>
            <pc:docMk/>
            <pc:sldMk cId="1927497036" sldId="272"/>
            <ac:picMk id="17" creationId="{CBB5432E-84AD-8CD2-7E1B-59E39617190E}"/>
          </ac:picMkLst>
        </pc:picChg>
      </pc:sldChg>
      <pc:sldChg chg="delSp mod">
        <pc:chgData name="Nesrin Çelebioğlu" userId="405ed7fe654a4b9c" providerId="LiveId" clId="{9F8727AB-3462-4CDD-A98E-048C154C9689}" dt="2025-09-30T12:16:06.023" v="147" actId="478"/>
        <pc:sldMkLst>
          <pc:docMk/>
          <pc:sldMk cId="2911735968" sldId="273"/>
        </pc:sldMkLst>
        <pc:inkChg chg="del">
          <ac:chgData name="Nesrin Çelebioğlu" userId="405ed7fe654a4b9c" providerId="LiveId" clId="{9F8727AB-3462-4CDD-A98E-048C154C9689}" dt="2025-09-30T12:16:06.023" v="147" actId="478"/>
          <ac:inkMkLst>
            <pc:docMk/>
            <pc:sldMk cId="2911735968" sldId="273"/>
            <ac:inkMk id="9" creationId="{4BBFD47F-56B8-BDA9-CC86-12FC766D9F43}"/>
          </ac:inkMkLst>
        </pc:inkChg>
      </pc:sldChg>
      <pc:sldChg chg="addSp delSp modSp del mod">
        <pc:chgData name="Nesrin Çelebioğlu" userId="405ed7fe654a4b9c" providerId="LiveId" clId="{9F8727AB-3462-4CDD-A98E-048C154C9689}" dt="2025-09-30T12:00:17.172" v="100" actId="47"/>
        <pc:sldMkLst>
          <pc:docMk/>
          <pc:sldMk cId="296775313" sldId="274"/>
        </pc:sldMkLst>
        <pc:picChg chg="del">
          <ac:chgData name="Nesrin Çelebioğlu" userId="405ed7fe654a4b9c" providerId="LiveId" clId="{9F8727AB-3462-4CDD-A98E-048C154C9689}" dt="2025-09-30T11:58:33.886" v="85" actId="478"/>
          <ac:picMkLst>
            <pc:docMk/>
            <pc:sldMk cId="296775313" sldId="274"/>
            <ac:picMk id="3" creationId="{C27F554E-E239-8758-A62F-884AE51FB5EC}"/>
          </ac:picMkLst>
        </pc:picChg>
        <pc:picChg chg="add del mod">
          <ac:chgData name="Nesrin Çelebioğlu" userId="405ed7fe654a4b9c" providerId="LiveId" clId="{9F8727AB-3462-4CDD-A98E-048C154C9689}" dt="2025-09-30T12:00:09.707" v="98" actId="21"/>
          <ac:picMkLst>
            <pc:docMk/>
            <pc:sldMk cId="296775313" sldId="274"/>
            <ac:picMk id="4" creationId="{81565EFB-CCE9-6392-D5A3-8FE524D2B45D}"/>
          </ac:picMkLst>
        </pc:picChg>
      </pc:sldChg>
      <pc:sldChg chg="addSp delSp modSp add mod ord modNotesTx">
        <pc:chgData name="Nesrin Çelebioğlu" userId="405ed7fe654a4b9c" providerId="LiveId" clId="{9F8727AB-3462-4CDD-A98E-048C154C9689}" dt="2025-09-30T12:28:50.788" v="172" actId="12"/>
        <pc:sldMkLst>
          <pc:docMk/>
          <pc:sldMk cId="2930022924" sldId="275"/>
        </pc:sldMkLst>
        <pc:spChg chg="del">
          <ac:chgData name="Nesrin Çelebioğlu" userId="405ed7fe654a4b9c" providerId="LiveId" clId="{9F8727AB-3462-4CDD-A98E-048C154C9689}" dt="2025-09-30T12:00:06.303" v="97" actId="478"/>
          <ac:spMkLst>
            <pc:docMk/>
            <pc:sldMk cId="2930022924" sldId="275"/>
            <ac:spMk id="10" creationId="{9A439FC2-E33C-B5CA-9D7D-DDE1EB1BCD88}"/>
          </ac:spMkLst>
        </pc:spChg>
        <pc:picChg chg="add mod">
          <ac:chgData name="Nesrin Çelebioğlu" userId="405ed7fe654a4b9c" providerId="LiveId" clId="{9F8727AB-3462-4CDD-A98E-048C154C9689}" dt="2025-09-30T12:00:11.934" v="99"/>
          <ac:picMkLst>
            <pc:docMk/>
            <pc:sldMk cId="2930022924" sldId="275"/>
            <ac:picMk id="4" creationId="{81565EFB-CCE9-6392-D5A3-8FE524D2B45D}"/>
          </ac:picMkLst>
        </pc:picChg>
        <pc:picChg chg="del">
          <ac:chgData name="Nesrin Çelebioğlu" userId="405ed7fe654a4b9c" providerId="LiveId" clId="{9F8727AB-3462-4CDD-A98E-048C154C9689}" dt="2025-09-30T12:00:03.463" v="95" actId="478"/>
          <ac:picMkLst>
            <pc:docMk/>
            <pc:sldMk cId="2930022924" sldId="275"/>
            <ac:picMk id="6" creationId="{E434F1EC-BDD8-7483-8874-743BCFB84C30}"/>
          </ac:picMkLst>
        </pc:picChg>
        <pc:picChg chg="del">
          <ac:chgData name="Nesrin Çelebioğlu" userId="405ed7fe654a4b9c" providerId="LiveId" clId="{9F8727AB-3462-4CDD-A98E-048C154C9689}" dt="2025-09-30T12:00:04.189" v="96" actId="478"/>
          <ac:picMkLst>
            <pc:docMk/>
            <pc:sldMk cId="2930022924" sldId="275"/>
            <ac:picMk id="7" creationId="{C2074D77-5C77-CEF8-4E56-D6FCC0A9CD71}"/>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6:26:33.41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1 711 0,'4088'-711'0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956E81-E204-44A5-974F-C3F834739640}" type="datetimeFigureOut">
              <a:rPr lang="en-US" smtClean="0"/>
              <a:t>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4A1F46-616F-49D3-8825-BEB360BFCA20}" type="slidenum">
              <a:rPr lang="en-US" smtClean="0"/>
              <a:t>‹#›</a:t>
            </a:fld>
            <a:endParaRPr lang="en-US"/>
          </a:p>
        </p:txBody>
      </p:sp>
    </p:spTree>
    <p:extLst>
      <p:ext uri="{BB962C8B-B14F-4D97-AF65-F5344CB8AC3E}">
        <p14:creationId xmlns:p14="http://schemas.microsoft.com/office/powerpoint/2010/main" val="1542204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4A1F46-616F-49D3-8825-BEB360BFCA20}" type="slidenum">
              <a:rPr lang="en-US" smtClean="0"/>
              <a:t>1</a:t>
            </a:fld>
            <a:endParaRPr lang="en-US"/>
          </a:p>
        </p:txBody>
      </p:sp>
    </p:spTree>
    <p:extLst>
      <p:ext uri="{BB962C8B-B14F-4D97-AF65-F5344CB8AC3E}">
        <p14:creationId xmlns:p14="http://schemas.microsoft.com/office/powerpoint/2010/main" val="3142392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de-DE" dirty="0"/>
              <a:t>• Die Grafik zeigt, dass geografische und wirtschaftliche Unterschiede die Karieshäufigkeit bei Kindern beeinflussen.</a:t>
            </a:r>
          </a:p>
          <a:p>
            <a:pPr marL="228600" indent="-228600">
              <a:buFont typeface="+mj-lt"/>
              <a:buAutoNum type="arabicPeriod"/>
            </a:pPr>
            <a:r>
              <a:rPr lang="de-DE" dirty="0"/>
              <a:t>• In Ländern des Nahen Ostens und in einigen südasiatischen Ländern ist die Kariesrate bei Kindern sehr hoch, während sie in Europa, Neuseeland und einigen afrikanischen Ländern niedrig ist.</a:t>
            </a:r>
          </a:p>
          <a:p>
            <a:pPr marL="228600" indent="-228600">
              <a:buFont typeface="+mj-lt"/>
              <a:buAutoNum type="arabicPeriod"/>
            </a:pPr>
            <a:r>
              <a:rPr lang="de-DE" dirty="0"/>
              <a:t>• Präventive Programme und Aufklärung zur Zahngesundheit scheinen in Ländern mit niedriger Kariesprävalenz wirksam zu sein.</a:t>
            </a:r>
          </a:p>
        </p:txBody>
      </p:sp>
      <p:sp>
        <p:nvSpPr>
          <p:cNvPr id="4" name="Slide Number Placeholder 3"/>
          <p:cNvSpPr>
            <a:spLocks noGrp="1"/>
          </p:cNvSpPr>
          <p:nvPr>
            <p:ph type="sldNum" sz="quarter" idx="5"/>
          </p:nvPr>
        </p:nvSpPr>
        <p:spPr/>
        <p:txBody>
          <a:bodyPr/>
          <a:lstStyle/>
          <a:p>
            <a:fld id="{C34A1F46-616F-49D3-8825-BEB360BFCA20}" type="slidenum">
              <a:rPr lang="en-US" smtClean="0"/>
              <a:t>7</a:t>
            </a:fld>
            <a:endParaRPr lang="en-US"/>
          </a:p>
        </p:txBody>
      </p:sp>
    </p:spTree>
    <p:extLst>
      <p:ext uri="{BB962C8B-B14F-4D97-AF65-F5344CB8AC3E}">
        <p14:creationId xmlns:p14="http://schemas.microsoft.com/office/powerpoint/2010/main" val="3747004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0" dirty="0"/>
              <a:t>Diese Analyse teilt die Länder nach Gesundheitsausgaben, Entwicklungsniveau und Indikatoren der Mundgesundheit in Cluster ein.</a:t>
            </a:r>
          </a:p>
          <a:p>
            <a:r>
              <a:rPr lang="de-DE" b="0" dirty="0"/>
              <a:t>Cluster 3 hat das niedrigste Entwicklungsniveau und die schlechteste Mundgesundheit, während Cluster 4 das höchste Entwicklungsniveau und ein starkes Gesundheitssystem aufweist.</a:t>
            </a:r>
          </a:p>
          <a:p>
            <a:r>
              <a:rPr lang="de-DE" b="0" dirty="0"/>
              <a:t>Cluster 1 umfasst Länder mit großer Bevölkerung und hohen Gesamtausgaben.</a:t>
            </a:r>
          </a:p>
          <a:p>
            <a:r>
              <a:rPr lang="de-DE" b="0" dirty="0"/>
              <a:t>Cluster 5 steht für Übergangsländer, und Cluster 2 repräsentiert mittel entwickelte Länder.</a:t>
            </a:r>
          </a:p>
          <a:p>
            <a:r>
              <a:rPr lang="de-DE" b="0" dirty="0"/>
              <a:t>Insgesamt zeigen die Cluster die Unterschiede zwischen wirtschaftlicher Situation und Mundgesundheit deutlich.</a:t>
            </a:r>
          </a:p>
        </p:txBody>
      </p:sp>
      <p:sp>
        <p:nvSpPr>
          <p:cNvPr id="4" name="Slide Number Placeholder 3"/>
          <p:cNvSpPr>
            <a:spLocks noGrp="1"/>
          </p:cNvSpPr>
          <p:nvPr>
            <p:ph type="sldNum" sz="quarter" idx="5"/>
          </p:nvPr>
        </p:nvSpPr>
        <p:spPr/>
        <p:txBody>
          <a:bodyPr/>
          <a:lstStyle/>
          <a:p>
            <a:fld id="{C34A1F46-616F-49D3-8825-BEB360BFCA20}" type="slidenum">
              <a:rPr lang="en-US" smtClean="0"/>
              <a:t>9</a:t>
            </a:fld>
            <a:endParaRPr lang="en-US"/>
          </a:p>
        </p:txBody>
      </p:sp>
    </p:spTree>
    <p:extLst>
      <p:ext uri="{BB962C8B-B14F-4D97-AF65-F5344CB8AC3E}">
        <p14:creationId xmlns:p14="http://schemas.microsoft.com/office/powerpoint/2010/main" val="2129325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0" dirty="0"/>
              <a:t>Die Clusteranalyse zeigt einen klaren Zusammenhang zwischen dem Einkommensniveau der Länder, den Ausgaben pro Person und der Bevölkerungsgröße.</a:t>
            </a:r>
          </a:p>
          <a:p>
            <a:r>
              <a:rPr lang="de-DE" b="0" dirty="0"/>
              <a:t>Länder mit niedrigem Einkommen in Afrika haben geringe Ausgaben und liegen meist in denselben Clustern, während die reichen europäischen Länder in höheren Clustern zu finden sind.</a:t>
            </a:r>
          </a:p>
          <a:p>
            <a:r>
              <a:rPr lang="de-DE" b="0" dirty="0"/>
              <a:t>Entwicklungsländer mit mittlerem Einkommen befinden sich in Clustern mit mittleren Ausgaben und Gesundheitsindikatoren.</a:t>
            </a:r>
          </a:p>
          <a:p>
            <a:r>
              <a:rPr lang="de-DE" b="0" dirty="0"/>
              <a:t>In Ländern mit hohem Einkommen sind die Mundgesundheitswerte besser, aber die Zahl der Mundkrebserkrankungen ist mittel bis hoch.</a:t>
            </a:r>
          </a:p>
          <a:p>
            <a:r>
              <a:rPr lang="de-DE" b="0" dirty="0"/>
              <a:t>In Ländern mit niedrigen Ausgaben sind die Krebsfälle geringer, was durch Demografie und Unterschiede in der Meldung erklärt werden kann.</a:t>
            </a:r>
          </a:p>
          <a:p>
            <a:r>
              <a:rPr lang="de-DE" b="0" dirty="0"/>
              <a:t>In großen Ländern wie Indien führt die hohe Bevölkerungszahl trotz niedriger Ausgaben pro Person zu vielen Gesamtfällen.</a:t>
            </a:r>
          </a:p>
          <a:p>
            <a:r>
              <a:rPr lang="de-DE" b="0" dirty="0"/>
              <a:t>Insgesamt zeigt die Analyse, dass Ausgaben, Gesundheitsindikatoren und Bevölkerungsgröße die Länder sinnvoll in Gruppen einteilen.</a:t>
            </a:r>
          </a:p>
        </p:txBody>
      </p:sp>
      <p:sp>
        <p:nvSpPr>
          <p:cNvPr id="4" name="Slide Number Placeholder 3"/>
          <p:cNvSpPr>
            <a:spLocks noGrp="1"/>
          </p:cNvSpPr>
          <p:nvPr>
            <p:ph type="sldNum" sz="quarter" idx="5"/>
          </p:nvPr>
        </p:nvSpPr>
        <p:spPr/>
        <p:txBody>
          <a:bodyPr/>
          <a:lstStyle/>
          <a:p>
            <a:fld id="{C34A1F46-616F-49D3-8825-BEB360BFCA20}" type="slidenum">
              <a:rPr lang="en-US" smtClean="0"/>
              <a:t>10</a:t>
            </a:fld>
            <a:endParaRPr lang="en-US"/>
          </a:p>
        </p:txBody>
      </p:sp>
    </p:spTree>
    <p:extLst>
      <p:ext uri="{BB962C8B-B14F-4D97-AF65-F5344CB8AC3E}">
        <p14:creationId xmlns:p14="http://schemas.microsoft.com/office/powerpoint/2010/main" val="1378662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C34A1F46-616F-49D3-8825-BEB360BFCA20}" type="slidenum">
              <a:rPr lang="en-US" smtClean="0"/>
              <a:t>11</a:t>
            </a:fld>
            <a:endParaRPr lang="en-US"/>
          </a:p>
        </p:txBody>
      </p:sp>
    </p:spTree>
    <p:extLst>
      <p:ext uri="{BB962C8B-B14F-4D97-AF65-F5344CB8AC3E}">
        <p14:creationId xmlns:p14="http://schemas.microsoft.com/office/powerpoint/2010/main" val="3829456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0" dirty="0"/>
              <a:t>In dieser Studie wollten wir den Produktivitätsverlust schätzen. Fehlende Daten wurden mit den Durchschnittswerten aus derselben Ausgaben­gruppe und demselben Cluster ergänzt. Als unabhängige Variablen nutzten wir Ausgaben‑ und Mundgesundheitsindikatoren. Die Daten wurden in Trainings‑ und Testdaten geteilt, und verschiedene Regressionsmodelle wurden mit R², RMSE und MAE verglichen. So konnten wir sehen, welches Modell die besten Vorhersagen macht.</a:t>
            </a:r>
          </a:p>
          <a:p>
            <a:r>
              <a:rPr lang="de-DE" b="0" dirty="0"/>
              <a:t>Die verwendeten Regressionsmodelle können den Arbeitskraftverlust mit etwa 90 % Genauigkeit schätzen. Gradient Boosting und </a:t>
            </a:r>
            <a:r>
              <a:rPr lang="de-DE" b="0" dirty="0" err="1"/>
              <a:t>XGBoost</a:t>
            </a:r>
            <a:r>
              <a:rPr lang="de-DE" b="0" dirty="0"/>
              <a:t> zeigen die niedrigsten Fehlerwerte.</a:t>
            </a:r>
          </a:p>
          <a:p>
            <a:r>
              <a:rPr lang="de-DE" b="0" dirty="0"/>
              <a:t>Die Analysen zeigen, dass die gesamten Gesundheitsausgaben der wichtigste Faktor für den Arbeitskraftverlust sind, während andere Gesundheitsindikatoren nur einen geringen Einfluss haben.</a:t>
            </a:r>
          </a:p>
          <a:p>
            <a:r>
              <a:rPr lang="de-DE" b="0" dirty="0"/>
              <a:t>Für die Verringerung des Arbeitskraftverlustes ist es wichtig, die Gesundheitsausgaben zu erhöhen oder effizienter einzusetzen</a:t>
            </a:r>
          </a:p>
          <a:p>
            <a:endParaRPr lang="de-DE" b="0" dirty="0"/>
          </a:p>
        </p:txBody>
      </p:sp>
      <p:sp>
        <p:nvSpPr>
          <p:cNvPr id="4" name="Slide Number Placeholder 3"/>
          <p:cNvSpPr>
            <a:spLocks noGrp="1"/>
          </p:cNvSpPr>
          <p:nvPr>
            <p:ph type="sldNum" sz="quarter" idx="5"/>
          </p:nvPr>
        </p:nvSpPr>
        <p:spPr/>
        <p:txBody>
          <a:bodyPr/>
          <a:lstStyle/>
          <a:p>
            <a:fld id="{C34A1F46-616F-49D3-8825-BEB360BFCA20}" type="slidenum">
              <a:rPr lang="en-US" smtClean="0"/>
              <a:t>12</a:t>
            </a:fld>
            <a:endParaRPr lang="en-US"/>
          </a:p>
        </p:txBody>
      </p:sp>
    </p:spTree>
    <p:extLst>
      <p:ext uri="{BB962C8B-B14F-4D97-AF65-F5344CB8AC3E}">
        <p14:creationId xmlns:p14="http://schemas.microsoft.com/office/powerpoint/2010/main" val="403670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de-DE" dirty="0"/>
              <a:t>• In den Gradient-Boosting- und </a:t>
            </a:r>
            <a:r>
              <a:rPr lang="de-DE" dirty="0" err="1"/>
              <a:t>XGBoost</a:t>
            </a:r>
            <a:r>
              <a:rPr lang="de-DE" dirty="0"/>
              <a:t>-Modellen war die wichtigste Variable die Gesamtausgaben (92–96 %).</a:t>
            </a:r>
          </a:p>
          <a:p>
            <a:pPr marL="228600" indent="-228600">
              <a:buFont typeface="+mj-lt"/>
              <a:buAutoNum type="arabicPeriod"/>
            </a:pPr>
            <a:r>
              <a:rPr lang="de-DE" dirty="0"/>
              <a:t>• Die Fälle von Mundkrebs standen an zweiter Stelle (3–5 %), und der Beitrag der anderen Gesundheitsindikatoren war sehr gering.</a:t>
            </a:r>
          </a:p>
          <a:p>
            <a:pPr marL="228600" indent="-228600">
              <a:buFont typeface="+mj-lt"/>
              <a:buAutoNum type="arabicPeriod"/>
            </a:pPr>
            <a:r>
              <a:rPr lang="de-DE" dirty="0"/>
              <a:t>• Diese Ergebnisse zeigen, dass wirtschaftliche Indikatoren eine dominante Rolle bei der Schätzung des Arbeitskraftverlustes spielen.</a:t>
            </a:r>
          </a:p>
        </p:txBody>
      </p:sp>
      <p:sp>
        <p:nvSpPr>
          <p:cNvPr id="4" name="Slide Number Placeholder 3"/>
          <p:cNvSpPr>
            <a:spLocks noGrp="1"/>
          </p:cNvSpPr>
          <p:nvPr>
            <p:ph type="sldNum" sz="quarter" idx="5"/>
          </p:nvPr>
        </p:nvSpPr>
        <p:spPr/>
        <p:txBody>
          <a:bodyPr/>
          <a:lstStyle/>
          <a:p>
            <a:fld id="{C34A1F46-616F-49D3-8825-BEB360BFCA20}" type="slidenum">
              <a:rPr lang="en-US" smtClean="0"/>
              <a:t>13</a:t>
            </a:fld>
            <a:endParaRPr lang="en-US"/>
          </a:p>
        </p:txBody>
      </p:sp>
    </p:spTree>
    <p:extLst>
      <p:ext uri="{BB962C8B-B14F-4D97-AF65-F5344CB8AC3E}">
        <p14:creationId xmlns:p14="http://schemas.microsoft.com/office/powerpoint/2010/main" val="750079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In dieser Phase wurden die Länder nach Gesundheits- und Ausgabenindikatoren in Gruppen mit niedrigen, mittleren und hohen Ausgaben eingeteilt. Fehlende Daten wurden mit den Gruppendurchschnitten ergänzt und die Variablen wurden standardisiert. Das Random-Forest-Modell wurde mit Genauigkeit, F1-Score, ROC-AUC und Kreuzvalidierung bewertet.</a:t>
            </a:r>
          </a:p>
          <a:p>
            <a:r>
              <a:rPr lang="de-DE" dirty="0"/>
              <a:t>Das wichtigste Merkmal im Modell ist der Verlust an Arbeitskraft. Danach folgen die Ausgaben pro Kopf und die gesamten Ausgaben. Die Gesundheitsindikatoren haben einen geringeren Einfluss. Die Ergebnisse zeigen, dass wirtschaftliche und produktivitätsbezogene Indikatoren eine zentrale Rolle bei der Vorhersage der Ausgabengruppen spielen.</a:t>
            </a:r>
          </a:p>
        </p:txBody>
      </p:sp>
      <p:sp>
        <p:nvSpPr>
          <p:cNvPr id="4" name="Slide Number Placeholder 3"/>
          <p:cNvSpPr>
            <a:spLocks noGrp="1"/>
          </p:cNvSpPr>
          <p:nvPr>
            <p:ph type="sldNum" sz="quarter" idx="5"/>
          </p:nvPr>
        </p:nvSpPr>
        <p:spPr/>
        <p:txBody>
          <a:bodyPr/>
          <a:lstStyle/>
          <a:p>
            <a:fld id="{C34A1F46-616F-49D3-8825-BEB360BFCA20}" type="slidenum">
              <a:rPr lang="en-US" smtClean="0"/>
              <a:t>14</a:t>
            </a:fld>
            <a:endParaRPr lang="en-US"/>
          </a:p>
        </p:txBody>
      </p:sp>
    </p:spTree>
    <p:extLst>
      <p:ext uri="{BB962C8B-B14F-4D97-AF65-F5344CB8AC3E}">
        <p14:creationId xmlns:p14="http://schemas.microsoft.com/office/powerpoint/2010/main" val="1836743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C34A1F46-616F-49D3-8825-BEB360BFCA20}" type="slidenum">
              <a:rPr lang="en-US" smtClean="0"/>
              <a:t>15</a:t>
            </a:fld>
            <a:endParaRPr lang="en-US"/>
          </a:p>
        </p:txBody>
      </p:sp>
    </p:spTree>
    <p:extLst>
      <p:ext uri="{BB962C8B-B14F-4D97-AF65-F5344CB8AC3E}">
        <p14:creationId xmlns:p14="http://schemas.microsoft.com/office/powerpoint/2010/main" val="3686692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C34A1F46-616F-49D3-8825-BEB360BFCA20}" type="slidenum">
              <a:rPr lang="en-US" smtClean="0"/>
              <a:t>16</a:t>
            </a:fld>
            <a:endParaRPr lang="en-US"/>
          </a:p>
        </p:txBody>
      </p:sp>
    </p:spTree>
    <p:extLst>
      <p:ext uri="{BB962C8B-B14F-4D97-AF65-F5344CB8AC3E}">
        <p14:creationId xmlns:p14="http://schemas.microsoft.com/office/powerpoint/2010/main" val="2211441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hyperlink" Target="https://toplumcudishekimleri.com/kuresel-agiz-dis-sagligi-durum-raporu-emre-kirmizitas/" TargetMode="External"/><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ustomXml" Target="../ink/ink1.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3" name="AutoShape 3"/>
          <p:cNvSpPr/>
          <p:nvPr/>
        </p:nvSpPr>
        <p:spPr>
          <a:xfrm>
            <a:off x="1219200" y="6667500"/>
            <a:ext cx="4344915" cy="0"/>
          </a:xfrm>
          <a:prstGeom prst="line">
            <a:avLst/>
          </a:prstGeom>
          <a:ln w="57150" cap="flat">
            <a:solidFill>
              <a:srgbClr val="7994A0"/>
            </a:solidFill>
            <a:prstDash val="solid"/>
            <a:headEnd type="none" w="sm" len="sm"/>
            <a:tailEnd type="none" w="sm" len="sm"/>
          </a:ln>
        </p:spPr>
      </p:sp>
      <p:sp>
        <p:nvSpPr>
          <p:cNvPr id="5" name="AutoShape 5"/>
          <p:cNvSpPr/>
          <p:nvPr/>
        </p:nvSpPr>
        <p:spPr>
          <a:xfrm flipV="1">
            <a:off x="1219200" y="5298380"/>
            <a:ext cx="4716390" cy="0"/>
          </a:xfrm>
          <a:prstGeom prst="line">
            <a:avLst/>
          </a:prstGeom>
          <a:ln w="57150" cap="flat">
            <a:solidFill>
              <a:srgbClr val="7994A0"/>
            </a:solidFill>
            <a:prstDash val="solid"/>
            <a:headEnd type="none" w="sm" len="sm"/>
            <a:tailEnd type="none" w="sm" len="sm"/>
          </a:ln>
        </p:spPr>
      </p:sp>
      <p:sp>
        <p:nvSpPr>
          <p:cNvPr id="6" name="TextBox 6"/>
          <p:cNvSpPr txBox="1"/>
          <p:nvPr/>
        </p:nvSpPr>
        <p:spPr>
          <a:xfrm>
            <a:off x="1024384" y="599709"/>
            <a:ext cx="14444216" cy="2253181"/>
          </a:xfrm>
          <a:prstGeom prst="rect">
            <a:avLst/>
          </a:prstGeom>
        </p:spPr>
        <p:txBody>
          <a:bodyPr wrap="square" lIns="0" tIns="0" rIns="0" bIns="0" rtlCol="0" anchor="t">
            <a:spAutoFit/>
          </a:bodyPr>
          <a:lstStyle/>
          <a:p>
            <a:pPr lvl="0" algn="ctr">
              <a:lnSpc>
                <a:spcPts val="8959"/>
              </a:lnSpc>
              <a:spcBef>
                <a:spcPct val="0"/>
              </a:spcBef>
            </a:pPr>
            <a:r>
              <a:rPr lang="de-DE" sz="6399" b="1" i="1" dirty="0">
                <a:solidFill>
                  <a:srgbClr val="0F4662"/>
                </a:solidFill>
                <a:latin typeface="Cormorant Garamond Bold Italics"/>
              </a:rPr>
              <a:t>Modellierung der wirtschaftlichen Auswirkungen anhand von Indikatoren der Mundgesundheit</a:t>
            </a:r>
            <a:endParaRPr lang="en-US" sz="6399" b="1" i="1" dirty="0">
              <a:solidFill>
                <a:srgbClr val="0F4662"/>
              </a:solidFill>
              <a:latin typeface="Cormorant Garamond Bold Italics"/>
              <a:sym typeface="Cormorant Garamond Bold Italics"/>
            </a:endParaRPr>
          </a:p>
        </p:txBody>
      </p:sp>
      <p:sp>
        <p:nvSpPr>
          <p:cNvPr id="7" name="TextBox 7"/>
          <p:cNvSpPr txBox="1"/>
          <p:nvPr/>
        </p:nvSpPr>
        <p:spPr>
          <a:xfrm>
            <a:off x="740851" y="4265110"/>
            <a:ext cx="5562600" cy="836896"/>
          </a:xfrm>
          <a:prstGeom prst="rect">
            <a:avLst/>
          </a:prstGeom>
        </p:spPr>
        <p:txBody>
          <a:bodyPr wrap="square" lIns="0" tIns="0" rIns="0" bIns="0" rtlCol="0" anchor="t">
            <a:spAutoFit/>
          </a:bodyPr>
          <a:lstStyle/>
          <a:p>
            <a:pPr marL="342900" lvl="0" indent="-342900" algn="just">
              <a:lnSpc>
                <a:spcPts val="3359"/>
              </a:lnSpc>
              <a:spcBef>
                <a:spcPct val="0"/>
              </a:spcBef>
              <a:buFont typeface="Arial" panose="020B0604020202020204" pitchFamily="34" charset="0"/>
              <a:buChar char="•"/>
            </a:pPr>
            <a:r>
              <a:rPr lang="de-DE" sz="2400" dirty="0">
                <a:solidFill>
                  <a:srgbClr val="0F4662"/>
                </a:solidFill>
                <a:latin typeface="Quicksand"/>
              </a:rPr>
              <a:t>Die zahnmedizinischen Ausgaben der Länder</a:t>
            </a:r>
            <a:endParaRPr lang="en-US" sz="2400" dirty="0">
              <a:solidFill>
                <a:srgbClr val="0F4662"/>
              </a:solidFill>
              <a:latin typeface="Quicksand"/>
              <a:ea typeface="Quicksand"/>
              <a:cs typeface="Quicksand"/>
              <a:sym typeface="Quicksand"/>
            </a:endParaRPr>
          </a:p>
        </p:txBody>
      </p:sp>
      <p:sp>
        <p:nvSpPr>
          <p:cNvPr id="8" name="TextBox 8"/>
          <p:cNvSpPr txBox="1"/>
          <p:nvPr/>
        </p:nvSpPr>
        <p:spPr>
          <a:xfrm>
            <a:off x="1219200" y="3366704"/>
            <a:ext cx="16040100" cy="461280"/>
          </a:xfrm>
          <a:prstGeom prst="rect">
            <a:avLst/>
          </a:prstGeom>
        </p:spPr>
        <p:txBody>
          <a:bodyPr wrap="square" lIns="0" tIns="0" rIns="0" bIns="0" rtlCol="0" anchor="t">
            <a:spAutoFit/>
          </a:bodyPr>
          <a:lstStyle/>
          <a:p>
            <a:pPr algn="just">
              <a:lnSpc>
                <a:spcPts val="3919"/>
              </a:lnSpc>
              <a:spcBef>
                <a:spcPct val="0"/>
              </a:spcBef>
            </a:pPr>
            <a:r>
              <a:rPr lang="de-DE" sz="2799" b="1" dirty="0">
                <a:solidFill>
                  <a:schemeClr val="accent1">
                    <a:lumMod val="75000"/>
                  </a:schemeClr>
                </a:solidFill>
                <a:latin typeface="Quicksand Bold"/>
              </a:rPr>
              <a:t>Mit den globalen Mund- und Zahngesundheitsdaten der Weltgesundheitsorganisation (WHO):</a:t>
            </a:r>
            <a:endParaRPr lang="en-US" sz="2799" b="1" dirty="0">
              <a:solidFill>
                <a:schemeClr val="accent1">
                  <a:lumMod val="75000"/>
                </a:schemeClr>
              </a:solidFill>
              <a:latin typeface="Quicksand Bold"/>
              <a:ea typeface="Quicksand Bold"/>
              <a:cs typeface="Quicksand Bold"/>
              <a:sym typeface="Quicksand Bold"/>
            </a:endParaRPr>
          </a:p>
        </p:txBody>
      </p:sp>
      <p:sp>
        <p:nvSpPr>
          <p:cNvPr id="13" name="Freeform 13"/>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4"/>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6" name="Picture 15">
            <a:extLst>
              <a:ext uri="{FF2B5EF4-FFF2-40B4-BE49-F238E27FC236}">
                <a16:creationId xmlns:a16="http://schemas.microsoft.com/office/drawing/2014/main" id="{C374FD4B-7EF8-DEFF-71C2-6BFAF756F170}"/>
              </a:ext>
            </a:extLst>
          </p:cNvPr>
          <p:cNvPicPr>
            <a:picLocks noChangeAspect="1"/>
          </p:cNvPicPr>
          <p:nvPr/>
        </p:nvPicPr>
        <p:blipFill>
          <a:blip r:embed="rId5"/>
          <a:stretch>
            <a:fillRect/>
          </a:stretch>
        </p:blipFill>
        <p:spPr>
          <a:xfrm>
            <a:off x="6845999" y="4385013"/>
            <a:ext cx="3556124" cy="3544902"/>
          </a:xfrm>
          <a:prstGeom prst="roundRect">
            <a:avLst>
              <a:gd name="adj" fmla="val 16667"/>
            </a:avLst>
          </a:prstGeom>
          <a:ln>
            <a:solidFill>
              <a:schemeClr val="accent5">
                <a:lumMod val="75000"/>
              </a:schemeClr>
            </a:solidFill>
          </a:ln>
          <a:effectLst>
            <a:glow rad="101600">
              <a:schemeClr val="accent5">
                <a:lumMod val="50000"/>
                <a:alpha val="60000"/>
              </a:schemeClr>
            </a:glow>
            <a:outerShdw blurRad="63500" sx="102000" sy="102000" algn="ctr" rotWithShape="0">
              <a:prstClr val="black">
                <a:alpha val="40000"/>
              </a:prst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7" name="TextBox 7">
            <a:extLst>
              <a:ext uri="{FF2B5EF4-FFF2-40B4-BE49-F238E27FC236}">
                <a16:creationId xmlns:a16="http://schemas.microsoft.com/office/drawing/2014/main" id="{820C32C3-E281-20BB-9243-243088D03024}"/>
              </a:ext>
            </a:extLst>
          </p:cNvPr>
          <p:cNvSpPr txBox="1"/>
          <p:nvPr/>
        </p:nvSpPr>
        <p:spPr>
          <a:xfrm>
            <a:off x="740851" y="5957025"/>
            <a:ext cx="5562600" cy="400879"/>
          </a:xfrm>
          <a:prstGeom prst="rect">
            <a:avLst/>
          </a:prstGeom>
        </p:spPr>
        <p:txBody>
          <a:bodyPr wrap="square" lIns="0" tIns="0" rIns="0" bIns="0" rtlCol="0" anchor="t">
            <a:spAutoFit/>
          </a:bodyPr>
          <a:lstStyle/>
          <a:p>
            <a:pPr marL="342900" lvl="0" indent="-342900" algn="just">
              <a:lnSpc>
                <a:spcPts val="3359"/>
              </a:lnSpc>
              <a:spcBef>
                <a:spcPct val="0"/>
              </a:spcBef>
              <a:buFont typeface="Arial" panose="020B0604020202020204" pitchFamily="34" charset="0"/>
              <a:buChar char="•"/>
            </a:pPr>
            <a:r>
              <a:rPr lang="en-US" sz="2400" dirty="0" err="1">
                <a:solidFill>
                  <a:srgbClr val="0F4662"/>
                </a:solidFill>
                <a:latin typeface="Quicksand"/>
              </a:rPr>
              <a:t>Gesundheitsindikatoren</a:t>
            </a:r>
            <a:endParaRPr lang="en-US" sz="2400" dirty="0">
              <a:solidFill>
                <a:srgbClr val="0F4662"/>
              </a:solidFill>
              <a:latin typeface="Quicksand"/>
              <a:sym typeface="Quicksand"/>
            </a:endParaRPr>
          </a:p>
        </p:txBody>
      </p:sp>
      <p:sp>
        <p:nvSpPr>
          <p:cNvPr id="18" name="TextBox 7">
            <a:extLst>
              <a:ext uri="{FF2B5EF4-FFF2-40B4-BE49-F238E27FC236}">
                <a16:creationId xmlns:a16="http://schemas.microsoft.com/office/drawing/2014/main" id="{1C3343F2-5A3B-CA80-80A2-F5CE568A3FFD}"/>
              </a:ext>
            </a:extLst>
          </p:cNvPr>
          <p:cNvSpPr txBox="1"/>
          <p:nvPr/>
        </p:nvSpPr>
        <p:spPr>
          <a:xfrm>
            <a:off x="740851" y="7265906"/>
            <a:ext cx="5968652" cy="400879"/>
          </a:xfrm>
          <a:prstGeom prst="rect">
            <a:avLst/>
          </a:prstGeom>
        </p:spPr>
        <p:txBody>
          <a:bodyPr wrap="square" lIns="0" tIns="0" rIns="0" bIns="0" rtlCol="0" anchor="t">
            <a:spAutoFit/>
          </a:bodyPr>
          <a:lstStyle/>
          <a:p>
            <a:pPr marL="342900" lvl="0" indent="-342900" algn="just">
              <a:lnSpc>
                <a:spcPts val="3359"/>
              </a:lnSpc>
              <a:spcBef>
                <a:spcPct val="0"/>
              </a:spcBef>
              <a:buFont typeface="Arial" panose="020B0604020202020204" pitchFamily="34" charset="0"/>
              <a:buChar char="•"/>
            </a:pPr>
            <a:r>
              <a:rPr lang="en-US" sz="2400" dirty="0" err="1">
                <a:solidFill>
                  <a:srgbClr val="0F4662"/>
                </a:solidFill>
                <a:latin typeface="Quicksand"/>
              </a:rPr>
              <a:t>Analyse</a:t>
            </a:r>
            <a:r>
              <a:rPr lang="en-US" sz="2400" dirty="0">
                <a:solidFill>
                  <a:srgbClr val="0F4662"/>
                </a:solidFill>
                <a:latin typeface="Quicksand"/>
              </a:rPr>
              <a:t> der </a:t>
            </a:r>
            <a:r>
              <a:rPr lang="en-US" sz="2400" dirty="0" err="1">
                <a:solidFill>
                  <a:srgbClr val="0F4662"/>
                </a:solidFill>
                <a:latin typeface="Quicksand"/>
              </a:rPr>
              <a:t>Mundkrebsfälle</a:t>
            </a:r>
            <a:endParaRPr lang="en-US" sz="2400" dirty="0">
              <a:solidFill>
                <a:srgbClr val="0F4662"/>
              </a:solidFill>
              <a:latin typeface="Quicksand"/>
              <a:ea typeface="Quicksand"/>
              <a:cs typeface="Quicksand"/>
              <a:sym typeface="Quicksand"/>
            </a:endParaRPr>
          </a:p>
        </p:txBody>
      </p:sp>
      <p:sp>
        <p:nvSpPr>
          <p:cNvPr id="19" name="AutoShape 5">
            <a:extLst>
              <a:ext uri="{FF2B5EF4-FFF2-40B4-BE49-F238E27FC236}">
                <a16:creationId xmlns:a16="http://schemas.microsoft.com/office/drawing/2014/main" id="{D3A205CC-2AA6-CA8E-C758-11D8B56F0EB6}"/>
              </a:ext>
            </a:extLst>
          </p:cNvPr>
          <p:cNvSpPr/>
          <p:nvPr/>
        </p:nvSpPr>
        <p:spPr>
          <a:xfrm flipV="1">
            <a:off x="1152565" y="7886700"/>
            <a:ext cx="5410200" cy="0"/>
          </a:xfrm>
          <a:prstGeom prst="line">
            <a:avLst/>
          </a:prstGeom>
          <a:ln w="57150" cap="flat">
            <a:solidFill>
              <a:srgbClr val="7994A0"/>
            </a:solidFill>
            <a:prstDash val="solid"/>
            <a:headEnd type="none" w="sm" len="sm"/>
            <a:tailEnd type="none" w="sm" len="sm"/>
          </a:ln>
        </p:spPr>
      </p:sp>
      <p:sp>
        <p:nvSpPr>
          <p:cNvPr id="20" name="TextBox 7">
            <a:extLst>
              <a:ext uri="{FF2B5EF4-FFF2-40B4-BE49-F238E27FC236}">
                <a16:creationId xmlns:a16="http://schemas.microsoft.com/office/drawing/2014/main" id="{33AA27DA-282A-E785-5828-D3FD23789E7B}"/>
              </a:ext>
            </a:extLst>
          </p:cNvPr>
          <p:cNvSpPr txBox="1"/>
          <p:nvPr/>
        </p:nvSpPr>
        <p:spPr>
          <a:xfrm>
            <a:off x="10744200" y="4306209"/>
            <a:ext cx="7060532" cy="1278683"/>
          </a:xfrm>
          <a:prstGeom prst="rect">
            <a:avLst/>
          </a:prstGeom>
        </p:spPr>
        <p:txBody>
          <a:bodyPr wrap="square" lIns="0" tIns="0" rIns="0" bIns="0" rtlCol="0" anchor="t">
            <a:spAutoFit/>
          </a:bodyPr>
          <a:lstStyle/>
          <a:p>
            <a:pPr marL="342900" lvl="0" indent="-342900" algn="just">
              <a:lnSpc>
                <a:spcPts val="3359"/>
              </a:lnSpc>
              <a:spcBef>
                <a:spcPct val="0"/>
              </a:spcBef>
              <a:buFont typeface="Arial" panose="020B0604020202020204" pitchFamily="34" charset="0"/>
              <a:buChar char="•"/>
            </a:pPr>
            <a:r>
              <a:rPr lang="de-DE" sz="2400" dirty="0">
                <a:solidFill>
                  <a:srgbClr val="0F4662"/>
                </a:solidFill>
                <a:latin typeface="Quicksand"/>
              </a:rPr>
              <a:t>Gruppierung der Länder anhand ihrer Gesundheitsausgaben mittels Cluster- und Klassifikationsmethoden</a:t>
            </a:r>
            <a:endParaRPr lang="en-US" sz="2400" dirty="0">
              <a:solidFill>
                <a:srgbClr val="0F4662"/>
              </a:solidFill>
              <a:latin typeface="Quicksand"/>
              <a:sym typeface="Quicksand"/>
            </a:endParaRPr>
          </a:p>
        </p:txBody>
      </p:sp>
      <p:sp>
        <p:nvSpPr>
          <p:cNvPr id="21" name="AutoShape 5">
            <a:extLst>
              <a:ext uri="{FF2B5EF4-FFF2-40B4-BE49-F238E27FC236}">
                <a16:creationId xmlns:a16="http://schemas.microsoft.com/office/drawing/2014/main" id="{5CC90079-97D1-A52C-5045-2A21BF610A68}"/>
              </a:ext>
            </a:extLst>
          </p:cNvPr>
          <p:cNvSpPr/>
          <p:nvPr/>
        </p:nvSpPr>
        <p:spPr>
          <a:xfrm flipV="1">
            <a:off x="11478073" y="5870610"/>
            <a:ext cx="6019800" cy="76200"/>
          </a:xfrm>
          <a:prstGeom prst="line">
            <a:avLst/>
          </a:prstGeom>
          <a:ln w="57150" cap="flat">
            <a:solidFill>
              <a:srgbClr val="7994A0"/>
            </a:solidFill>
            <a:prstDash val="solid"/>
            <a:headEnd type="none" w="sm" len="sm"/>
            <a:tailEnd type="none" w="sm" len="sm"/>
          </a:ln>
        </p:spPr>
      </p:sp>
      <p:sp>
        <p:nvSpPr>
          <p:cNvPr id="22" name="TextBox 7">
            <a:extLst>
              <a:ext uri="{FF2B5EF4-FFF2-40B4-BE49-F238E27FC236}">
                <a16:creationId xmlns:a16="http://schemas.microsoft.com/office/drawing/2014/main" id="{B12ABE81-2C8C-0AC6-17AD-9506C52D54E2}"/>
              </a:ext>
            </a:extLst>
          </p:cNvPr>
          <p:cNvSpPr txBox="1"/>
          <p:nvPr/>
        </p:nvSpPr>
        <p:spPr>
          <a:xfrm>
            <a:off x="10744200" y="6321572"/>
            <a:ext cx="7060532" cy="1272913"/>
          </a:xfrm>
          <a:prstGeom prst="rect">
            <a:avLst/>
          </a:prstGeom>
        </p:spPr>
        <p:txBody>
          <a:bodyPr wrap="square" lIns="0" tIns="0" rIns="0" bIns="0" rtlCol="0" anchor="t">
            <a:spAutoFit/>
          </a:bodyPr>
          <a:lstStyle/>
          <a:p>
            <a:pPr marL="342900" indent="-342900" algn="just">
              <a:lnSpc>
                <a:spcPts val="3359"/>
              </a:lnSpc>
              <a:spcBef>
                <a:spcPct val="0"/>
              </a:spcBef>
              <a:buFont typeface="Arial" panose="020B0604020202020204" pitchFamily="34" charset="0"/>
              <a:buChar char="•"/>
            </a:pPr>
            <a:r>
              <a:rPr lang="de-DE" sz="2400" dirty="0">
                <a:solidFill>
                  <a:srgbClr val="0F4662"/>
                </a:solidFill>
                <a:latin typeface="Quicksand"/>
              </a:rPr>
              <a:t>Schätzung des durch Mundkrankheiten verursachten Arbeitskraftverlustes (</a:t>
            </a:r>
            <a:r>
              <a:rPr lang="de-DE" sz="2400" dirty="0" err="1">
                <a:solidFill>
                  <a:srgbClr val="0F4662"/>
                </a:solidFill>
                <a:latin typeface="Quicksand"/>
              </a:rPr>
              <a:t>Productivity</a:t>
            </a:r>
            <a:r>
              <a:rPr lang="de-DE" sz="2400" dirty="0">
                <a:solidFill>
                  <a:srgbClr val="0F4662"/>
                </a:solidFill>
                <a:latin typeface="Quicksand"/>
              </a:rPr>
              <a:t> Loss) mittels Regressionsmodellen</a:t>
            </a:r>
            <a:endParaRPr lang="en-US" sz="2400" dirty="0">
              <a:solidFill>
                <a:srgbClr val="0F4662"/>
              </a:solidFill>
              <a:latin typeface="Quicksand"/>
              <a:sym typeface="Quicksand"/>
            </a:endParaRPr>
          </a:p>
        </p:txBody>
      </p:sp>
      <p:sp>
        <p:nvSpPr>
          <p:cNvPr id="23" name="AutoShape 5">
            <a:extLst>
              <a:ext uri="{FF2B5EF4-FFF2-40B4-BE49-F238E27FC236}">
                <a16:creationId xmlns:a16="http://schemas.microsoft.com/office/drawing/2014/main" id="{54D0BCD4-FFCF-9806-7FF6-1156BC6788E6}"/>
              </a:ext>
            </a:extLst>
          </p:cNvPr>
          <p:cNvSpPr/>
          <p:nvPr/>
        </p:nvSpPr>
        <p:spPr>
          <a:xfrm flipV="1">
            <a:off x="11400773" y="7807890"/>
            <a:ext cx="6019800" cy="76200"/>
          </a:xfrm>
          <a:prstGeom prst="line">
            <a:avLst/>
          </a:prstGeom>
          <a:ln w="57150" cap="flat">
            <a:solidFill>
              <a:srgbClr val="7994A0"/>
            </a:solidFill>
            <a:prstDash val="solid"/>
            <a:headEnd type="none" w="sm" len="sm"/>
            <a:tailEnd type="none" w="sm" len="sm"/>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37418F-F4A9-1537-2501-5A65C7CC03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6600" y="4125171"/>
            <a:ext cx="5534025" cy="5655731"/>
          </a:xfrm>
          <a:prstGeom prst="rect">
            <a:avLst/>
          </a:prstGeom>
        </p:spPr>
      </p:pic>
      <p:sp>
        <p:nvSpPr>
          <p:cNvPr id="16" name="TextBox 15">
            <a:extLst>
              <a:ext uri="{FF2B5EF4-FFF2-40B4-BE49-F238E27FC236}">
                <a16:creationId xmlns:a16="http://schemas.microsoft.com/office/drawing/2014/main" id="{DD91D37E-7EBD-41C1-9A9C-6FA931BC939B}"/>
              </a:ext>
            </a:extLst>
          </p:cNvPr>
          <p:cNvSpPr txBox="1"/>
          <p:nvPr/>
        </p:nvSpPr>
        <p:spPr>
          <a:xfrm>
            <a:off x="1295399" y="377444"/>
            <a:ext cx="15925801" cy="2330959"/>
          </a:xfrm>
          <a:prstGeom prst="rect">
            <a:avLst/>
          </a:prstGeom>
          <a:noFill/>
        </p:spPr>
        <p:txBody>
          <a:bodyPr wrap="square">
            <a:spAutoFit/>
          </a:bodyPr>
          <a:lstStyle/>
          <a:p>
            <a:pPr lvl="0" algn="ctr">
              <a:lnSpc>
                <a:spcPts val="8959"/>
              </a:lnSpc>
              <a:spcBef>
                <a:spcPct val="0"/>
              </a:spcBef>
            </a:pPr>
            <a:r>
              <a:rPr lang="de-DE" sz="5400" b="1" i="1" dirty="0">
                <a:solidFill>
                  <a:srgbClr val="0F4662"/>
                </a:solidFill>
                <a:latin typeface="Cormorant Garamond Bold Italics"/>
              </a:rPr>
              <a:t>Die am häufigsten vorkommenden Krankheiten nach Einkommensniveau der Länder</a:t>
            </a:r>
            <a:endParaRPr lang="en-US" sz="5400" b="1" i="1" dirty="0">
              <a:solidFill>
                <a:srgbClr val="0F4662"/>
              </a:solidFill>
              <a:latin typeface="Cormorant Garamond Bold Italics"/>
              <a:sym typeface="Cormorant Garamond Bold Italics"/>
            </a:endParaRPr>
          </a:p>
        </p:txBody>
      </p:sp>
      <p:sp>
        <p:nvSpPr>
          <p:cNvPr id="18" name="TextBox 17">
            <a:extLst>
              <a:ext uri="{FF2B5EF4-FFF2-40B4-BE49-F238E27FC236}">
                <a16:creationId xmlns:a16="http://schemas.microsoft.com/office/drawing/2014/main" id="{C7DF7649-07CB-8D35-B97F-790F8FD9710C}"/>
              </a:ext>
            </a:extLst>
          </p:cNvPr>
          <p:cNvSpPr txBox="1"/>
          <p:nvPr/>
        </p:nvSpPr>
        <p:spPr>
          <a:xfrm>
            <a:off x="8991600" y="9457736"/>
            <a:ext cx="9448800" cy="646331"/>
          </a:xfrm>
          <a:prstGeom prst="rect">
            <a:avLst/>
          </a:prstGeom>
          <a:noFill/>
        </p:spPr>
        <p:txBody>
          <a:bodyPr wrap="square">
            <a:spAutoFit/>
          </a:bodyPr>
          <a:lstStyle/>
          <a:p>
            <a:r>
              <a:rPr lang="de-DE" dirty="0"/>
              <a:t>Globaler Bericht zum Stand der </a:t>
            </a:r>
            <a:r>
              <a:rPr lang="de-DE" dirty="0" err="1"/>
              <a:t>Mund-und</a:t>
            </a:r>
            <a:r>
              <a:rPr lang="de-DE" dirty="0"/>
              <a:t> Zahngesundheit – Emre </a:t>
            </a:r>
            <a:r>
              <a:rPr lang="de-DE" dirty="0" err="1"/>
              <a:t>Kırmızıtaş</a:t>
            </a:r>
            <a:r>
              <a:rPr lang="de-DE" dirty="0"/>
              <a:t> – </a:t>
            </a:r>
            <a:r>
              <a:rPr lang="de-DE" dirty="0" err="1"/>
              <a:t>Toplumcu</a:t>
            </a:r>
            <a:r>
              <a:rPr lang="de-DE" dirty="0"/>
              <a:t> </a:t>
            </a:r>
            <a:r>
              <a:rPr lang="de-DE" dirty="0" err="1"/>
              <a:t>Diş</a:t>
            </a:r>
            <a:r>
              <a:rPr lang="de-DE" dirty="0"/>
              <a:t> </a:t>
            </a:r>
            <a:r>
              <a:rPr lang="de-DE" dirty="0" err="1"/>
              <a:t>Hekimleri</a:t>
            </a:r>
            <a:r>
              <a:rPr lang="de-DE" dirty="0"/>
              <a:t> (Vereinigung sozial orientierter Zahnärzte) </a:t>
            </a:r>
            <a:r>
              <a:rPr lang="de-DE" dirty="0">
                <a:hlinkClick r:id="rId3"/>
              </a:rPr>
              <a:t>Für Details hier klicken</a:t>
            </a:r>
            <a:r>
              <a:rPr lang="de-DE" dirty="0"/>
              <a:t> </a:t>
            </a:r>
            <a:endParaRPr lang="en-US" dirty="0"/>
          </a:p>
        </p:txBody>
      </p:sp>
      <p:pic>
        <p:nvPicPr>
          <p:cNvPr id="20" name="Picture 19">
            <a:extLst>
              <a:ext uri="{FF2B5EF4-FFF2-40B4-BE49-F238E27FC236}">
                <a16:creationId xmlns:a16="http://schemas.microsoft.com/office/drawing/2014/main" id="{D0FC5FB0-B075-B407-0612-02D7568DED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1945" y="2708403"/>
            <a:ext cx="12912909" cy="1685886"/>
          </a:xfrm>
          <a:prstGeom prst="rect">
            <a:avLst/>
          </a:prstGeom>
        </p:spPr>
      </p:pic>
      <p:sp>
        <p:nvSpPr>
          <p:cNvPr id="21" name="Arrow: Right 20">
            <a:extLst>
              <a:ext uri="{FF2B5EF4-FFF2-40B4-BE49-F238E27FC236}">
                <a16:creationId xmlns:a16="http://schemas.microsoft.com/office/drawing/2014/main" id="{7321FE90-B24B-91B5-5975-6FB7E9680A07}"/>
              </a:ext>
            </a:extLst>
          </p:cNvPr>
          <p:cNvSpPr/>
          <p:nvPr/>
        </p:nvSpPr>
        <p:spPr>
          <a:xfrm>
            <a:off x="488646" y="4389166"/>
            <a:ext cx="1370880" cy="53304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1B3AFCF0-28D9-6C0A-FAD6-80C54D944A6B}"/>
                  </a:ext>
                </a:extLst>
              </p14:cNvPr>
              <p14:cNvContentPartPr/>
              <p14:nvPr/>
            </p14:nvContentPartPr>
            <p14:xfrm rot="356343" flipV="1">
              <a:off x="5715729" y="4028421"/>
              <a:ext cx="1472210" cy="255874"/>
            </p14:xfrm>
          </p:contentPart>
        </mc:Choice>
        <mc:Fallback xmlns="">
          <p:pic>
            <p:nvPicPr>
              <p:cNvPr id="13" name="Ink 12">
                <a:extLst>
                  <a:ext uri="{FF2B5EF4-FFF2-40B4-BE49-F238E27FC236}">
                    <a16:creationId xmlns:a16="http://schemas.microsoft.com/office/drawing/2014/main" id="{1B3AFCF0-28D9-6C0A-FAD6-80C54D944A6B}"/>
                  </a:ext>
                </a:extLst>
              </p:cNvPr>
              <p:cNvPicPr/>
              <p:nvPr/>
            </p:nvPicPr>
            <p:blipFill>
              <a:blip r:embed="rId6"/>
              <a:stretch>
                <a:fillRect/>
              </a:stretch>
            </p:blipFill>
            <p:spPr>
              <a:xfrm rot="356343" flipV="1">
                <a:off x="5661723" y="3920609"/>
                <a:ext cx="1579862" cy="471139"/>
              </a:xfrm>
              <a:prstGeom prst="rect">
                <a:avLst/>
              </a:prstGeom>
            </p:spPr>
          </p:pic>
        </mc:Fallback>
      </mc:AlternateContent>
      <p:sp>
        <p:nvSpPr>
          <p:cNvPr id="8" name="Oval 7">
            <a:extLst>
              <a:ext uri="{FF2B5EF4-FFF2-40B4-BE49-F238E27FC236}">
                <a16:creationId xmlns:a16="http://schemas.microsoft.com/office/drawing/2014/main" id="{95F0BDF2-A778-0106-1B78-E0D1ADA3F533}"/>
              </a:ext>
            </a:extLst>
          </p:cNvPr>
          <p:cNvSpPr/>
          <p:nvPr/>
        </p:nvSpPr>
        <p:spPr>
          <a:xfrm>
            <a:off x="2666999" y="4389166"/>
            <a:ext cx="7696201" cy="75433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1735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500" fill="hold"/>
                                        <p:tgtEl>
                                          <p:spTgt spid="20"/>
                                        </p:tgtEl>
                                        <p:attrNameLst>
                                          <p:attrName>ppt_x</p:attrName>
                                        </p:attrNameLst>
                                      </p:cBhvr>
                                      <p:tavLst>
                                        <p:tav tm="0">
                                          <p:val>
                                            <p:strVal val="#ppt_x"/>
                                          </p:val>
                                        </p:tav>
                                        <p:tav tm="100000">
                                          <p:val>
                                            <p:strVal val="#ppt_x"/>
                                          </p:val>
                                        </p:tav>
                                      </p:tavLst>
                                    </p:anim>
                                    <p:anim calcmode="lin" valueType="num">
                                      <p:cBhvr additive="base">
                                        <p:cTn id="19"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3" name="AutoShape 3"/>
          <p:cNvSpPr/>
          <p:nvPr/>
        </p:nvSpPr>
        <p:spPr>
          <a:xfrm>
            <a:off x="5897880" y="3568974"/>
            <a:ext cx="6492240" cy="0"/>
          </a:xfrm>
          <a:prstGeom prst="line">
            <a:avLst/>
          </a:prstGeom>
          <a:ln w="76200" cap="flat">
            <a:solidFill>
              <a:srgbClr val="0F4662"/>
            </a:solidFill>
            <a:prstDash val="solid"/>
            <a:headEnd type="none" w="sm" len="sm"/>
            <a:tailEnd type="none" w="sm" len="sm"/>
          </a:ln>
        </p:spPr>
      </p:sp>
      <p:sp>
        <p:nvSpPr>
          <p:cNvPr id="4" name="AutoShape 4"/>
          <p:cNvSpPr/>
          <p:nvPr/>
        </p:nvSpPr>
        <p:spPr>
          <a:xfrm>
            <a:off x="5897879" y="6667500"/>
            <a:ext cx="6492240" cy="0"/>
          </a:xfrm>
          <a:prstGeom prst="line">
            <a:avLst/>
          </a:prstGeom>
          <a:ln w="76200" cap="flat">
            <a:solidFill>
              <a:srgbClr val="0F4662"/>
            </a:solidFill>
            <a:prstDash val="solid"/>
            <a:headEnd type="none" w="sm" len="sm"/>
            <a:tailEnd type="none" w="sm" len="sm"/>
          </a:ln>
        </p:spPr>
      </p:sp>
      <p:sp>
        <p:nvSpPr>
          <p:cNvPr id="5" name="Freeform 5"/>
          <p:cNvSpPr/>
          <p:nvPr/>
        </p:nvSpPr>
        <p:spPr>
          <a:xfrm>
            <a:off x="8153400" y="1653305"/>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677949" y="233527"/>
            <a:ext cx="8048163" cy="1099019"/>
          </a:xfrm>
          <a:prstGeom prst="rect">
            <a:avLst/>
          </a:prstGeom>
        </p:spPr>
        <p:txBody>
          <a:bodyPr lIns="0" tIns="0" rIns="0" bIns="0" rtlCol="0" anchor="t">
            <a:spAutoFit/>
          </a:bodyPr>
          <a:lstStyle/>
          <a:p>
            <a:pPr lvl="0">
              <a:lnSpc>
                <a:spcPts val="8959"/>
              </a:lnSpc>
              <a:spcBef>
                <a:spcPct val="0"/>
              </a:spcBef>
            </a:pPr>
            <a:r>
              <a:rPr lang="en-US" sz="6399" b="1" i="1" dirty="0" err="1">
                <a:solidFill>
                  <a:srgbClr val="0F4662"/>
                </a:solidFill>
                <a:latin typeface="Cormorant Garamond Bold Italics"/>
                <a:sym typeface="Cormorant Garamond Bold Italics"/>
              </a:rPr>
              <a:t>Variablen</a:t>
            </a:r>
            <a:endParaRPr lang="en-US" sz="6399" b="1" i="1" dirty="0">
              <a:solidFill>
                <a:srgbClr val="0F4662"/>
              </a:solidFill>
              <a:latin typeface="Cormorant Garamond Bold Italics"/>
              <a:sym typeface="Cormorant Garamond Bold Italics"/>
            </a:endParaRPr>
          </a:p>
        </p:txBody>
      </p:sp>
      <p:sp>
        <p:nvSpPr>
          <p:cNvPr id="7" name="Freeform 7"/>
          <p:cNvSpPr/>
          <p:nvPr/>
        </p:nvSpPr>
        <p:spPr>
          <a:xfrm>
            <a:off x="8153400" y="933450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7" name="Picture 16">
            <a:extLst>
              <a:ext uri="{FF2B5EF4-FFF2-40B4-BE49-F238E27FC236}">
                <a16:creationId xmlns:a16="http://schemas.microsoft.com/office/drawing/2014/main" id="{A05BD2A5-0D4C-7CB0-D070-99AEEC94047E}"/>
              </a:ext>
            </a:extLst>
          </p:cNvPr>
          <p:cNvPicPr>
            <a:picLocks noChangeAspect="1"/>
          </p:cNvPicPr>
          <p:nvPr/>
        </p:nvPicPr>
        <p:blipFill>
          <a:blip r:embed="rId4"/>
          <a:stretch>
            <a:fillRect/>
          </a:stretch>
        </p:blipFill>
        <p:spPr>
          <a:xfrm>
            <a:off x="152399" y="7962900"/>
            <a:ext cx="17983200" cy="1287454"/>
          </a:xfrm>
          <a:prstGeom prst="rect">
            <a:avLst/>
          </a:prstGeom>
          <a:ln>
            <a:noFill/>
          </a:ln>
          <a:effectLst>
            <a:glow rad="139700">
              <a:schemeClr val="accent1">
                <a:satMod val="175000"/>
                <a:alpha val="40000"/>
              </a:schemeClr>
            </a:glow>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4082364F-A962-FADF-942A-9BDA4ADCD170}"/>
              </a:ext>
            </a:extLst>
          </p:cNvPr>
          <p:cNvPicPr>
            <a:picLocks noChangeAspect="1"/>
          </p:cNvPicPr>
          <p:nvPr/>
        </p:nvPicPr>
        <p:blipFill>
          <a:blip r:embed="rId5"/>
          <a:stretch>
            <a:fillRect/>
          </a:stretch>
        </p:blipFill>
        <p:spPr>
          <a:xfrm>
            <a:off x="3125998" y="1596155"/>
            <a:ext cx="11734799" cy="59435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4093893" y="15849"/>
            <a:ext cx="4194107" cy="10271151"/>
            <a:chOff x="0" y="0"/>
            <a:chExt cx="1104621" cy="2705159"/>
          </a:xfrm>
        </p:grpSpPr>
        <p:sp>
          <p:nvSpPr>
            <p:cNvPr id="3" name="Freeform 3"/>
            <p:cNvSpPr/>
            <p:nvPr/>
          </p:nvSpPr>
          <p:spPr>
            <a:xfrm>
              <a:off x="0" y="0"/>
              <a:ext cx="1104621" cy="2705159"/>
            </a:xfrm>
            <a:custGeom>
              <a:avLst/>
              <a:gdLst/>
              <a:ahLst/>
              <a:cxnLst/>
              <a:rect l="l" t="t" r="r" b="b"/>
              <a:pathLst>
                <a:path w="1104621" h="2705159">
                  <a:moveTo>
                    <a:pt x="0" y="0"/>
                  </a:moveTo>
                  <a:lnTo>
                    <a:pt x="1104621" y="0"/>
                  </a:lnTo>
                  <a:lnTo>
                    <a:pt x="1104621" y="2705159"/>
                  </a:lnTo>
                  <a:lnTo>
                    <a:pt x="0" y="2705159"/>
                  </a:lnTo>
                  <a:close/>
                </a:path>
              </a:pathLst>
            </a:custGeom>
            <a:solidFill>
              <a:srgbClr val="7994A0"/>
            </a:solidFill>
          </p:spPr>
        </p:sp>
        <p:sp>
          <p:nvSpPr>
            <p:cNvPr id="4" name="TextBox 4"/>
            <p:cNvSpPr txBox="1"/>
            <p:nvPr/>
          </p:nvSpPr>
          <p:spPr>
            <a:xfrm>
              <a:off x="0" y="-47625"/>
              <a:ext cx="1104621" cy="2752784"/>
            </a:xfrm>
            <a:prstGeom prst="rect">
              <a:avLst/>
            </a:prstGeom>
          </p:spPr>
          <p:txBody>
            <a:bodyPr lIns="50800" tIns="50800" rIns="50800" bIns="50800" rtlCol="0" anchor="ctr"/>
            <a:lstStyle/>
            <a:p>
              <a:pPr algn="ctr">
                <a:lnSpc>
                  <a:spcPts val="3693"/>
                </a:lnSpc>
              </a:pPr>
              <a:endParaRPr/>
            </a:p>
          </p:txBody>
        </p:sp>
      </p:grpSp>
      <p:sp>
        <p:nvSpPr>
          <p:cNvPr id="7" name="Freeform 7"/>
          <p:cNvSpPr/>
          <p:nvPr/>
        </p:nvSpPr>
        <p:spPr>
          <a:xfrm>
            <a:off x="1028700" y="8974931"/>
            <a:ext cx="1905000" cy="283369"/>
          </a:xfrm>
          <a:custGeom>
            <a:avLst/>
            <a:gdLst/>
            <a:ahLst/>
            <a:cxnLst/>
            <a:rect l="l" t="t" r="r" b="b"/>
            <a:pathLst>
              <a:path w="1905000" h="283369">
                <a:moveTo>
                  <a:pt x="0" y="0"/>
                </a:moveTo>
                <a:lnTo>
                  <a:pt x="1905000" y="0"/>
                </a:lnTo>
                <a:lnTo>
                  <a:pt x="1905000" y="283369"/>
                </a:lnTo>
                <a:lnTo>
                  <a:pt x="0" y="2833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028700" y="599709"/>
            <a:ext cx="9390243" cy="1102289"/>
          </a:xfrm>
          <a:prstGeom prst="rect">
            <a:avLst/>
          </a:prstGeom>
        </p:spPr>
        <p:txBody>
          <a:bodyPr lIns="0" tIns="0" rIns="0" bIns="0" rtlCol="0" anchor="t">
            <a:spAutoFit/>
          </a:bodyPr>
          <a:lstStyle/>
          <a:p>
            <a:pPr lvl="0">
              <a:lnSpc>
                <a:spcPts val="8959"/>
              </a:lnSpc>
              <a:spcBef>
                <a:spcPct val="0"/>
              </a:spcBef>
            </a:pPr>
            <a:r>
              <a:rPr lang="en-US" sz="6399" b="1" i="1" dirty="0" err="1">
                <a:solidFill>
                  <a:srgbClr val="0F4662"/>
                </a:solidFill>
                <a:latin typeface="Cormorant Garamond Bold Italics"/>
                <a:sym typeface="Cormorant Garamond Bold Italics"/>
              </a:rPr>
              <a:t>Deskriptive</a:t>
            </a:r>
            <a:r>
              <a:rPr lang="en-US" sz="6399" b="1" i="1" dirty="0">
                <a:solidFill>
                  <a:srgbClr val="0F4662"/>
                </a:solidFill>
                <a:latin typeface="Cormorant Garamond Bold Italics"/>
                <a:sym typeface="Cormorant Garamond Bold Italics"/>
              </a:rPr>
              <a:t> </a:t>
            </a:r>
            <a:r>
              <a:rPr lang="en-US" sz="6399" b="1" i="1" dirty="0" err="1">
                <a:solidFill>
                  <a:srgbClr val="0F4662"/>
                </a:solidFill>
                <a:latin typeface="Cormorant Garamond Bold Italics"/>
                <a:sym typeface="Cormorant Garamond Bold Italics"/>
              </a:rPr>
              <a:t>Statistiken</a:t>
            </a:r>
            <a:endParaRPr lang="en-US" sz="6399" b="1" i="1" dirty="0">
              <a:solidFill>
                <a:srgbClr val="0F4662"/>
              </a:solidFill>
              <a:latin typeface="Cormorant Garamond Bold Italics"/>
              <a:sym typeface="Cormorant Garamond Bold Italics"/>
            </a:endParaRPr>
          </a:p>
        </p:txBody>
      </p:sp>
      <p:pic>
        <p:nvPicPr>
          <p:cNvPr id="10" name="Picture 9">
            <a:extLst>
              <a:ext uri="{FF2B5EF4-FFF2-40B4-BE49-F238E27FC236}">
                <a16:creationId xmlns:a16="http://schemas.microsoft.com/office/drawing/2014/main" id="{E8852B1B-847C-F0F5-5A0D-BC0038F86C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600" y="2188336"/>
            <a:ext cx="11935279" cy="5745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13" name="Freeform 13"/>
          <p:cNvSpPr/>
          <p:nvPr/>
        </p:nvSpPr>
        <p:spPr>
          <a:xfrm>
            <a:off x="15621000" y="571500"/>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1024384" y="9541800"/>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4" name="Picture 3">
            <a:extLst>
              <a:ext uri="{FF2B5EF4-FFF2-40B4-BE49-F238E27FC236}">
                <a16:creationId xmlns:a16="http://schemas.microsoft.com/office/drawing/2014/main" id="{731C4294-A0E2-9368-3605-803166D0BE9D}"/>
              </a:ext>
            </a:extLst>
          </p:cNvPr>
          <p:cNvPicPr>
            <a:picLocks noChangeAspect="1"/>
          </p:cNvPicPr>
          <p:nvPr/>
        </p:nvPicPr>
        <p:blipFill>
          <a:blip r:embed="rId4"/>
          <a:stretch>
            <a:fillRect/>
          </a:stretch>
        </p:blipFill>
        <p:spPr>
          <a:xfrm>
            <a:off x="686726" y="409474"/>
            <a:ext cx="16914547" cy="9468052"/>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B51FDE9C-67B6-0C34-E337-91BBB0A1CD73}"/>
            </a:ext>
          </a:extLst>
        </p:cNvPr>
        <p:cNvGrpSpPr/>
        <p:nvPr/>
      </p:nvGrpSpPr>
      <p:grpSpPr>
        <a:xfrm>
          <a:off x="0" y="0"/>
          <a:ext cx="0" cy="0"/>
          <a:chOff x="0" y="0"/>
          <a:chExt cx="0" cy="0"/>
        </a:xfrm>
      </p:grpSpPr>
      <p:sp>
        <p:nvSpPr>
          <p:cNvPr id="13" name="Freeform 13">
            <a:extLst>
              <a:ext uri="{FF2B5EF4-FFF2-40B4-BE49-F238E27FC236}">
                <a16:creationId xmlns:a16="http://schemas.microsoft.com/office/drawing/2014/main" id="{D95CF100-4A94-2199-7708-4B16B5513C07}"/>
              </a:ext>
            </a:extLst>
          </p:cNvPr>
          <p:cNvSpPr/>
          <p:nvPr/>
        </p:nvSpPr>
        <p:spPr>
          <a:xfrm>
            <a:off x="15579303" y="571500"/>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a:extLst>
              <a:ext uri="{FF2B5EF4-FFF2-40B4-BE49-F238E27FC236}">
                <a16:creationId xmlns:a16="http://schemas.microsoft.com/office/drawing/2014/main" id="{BE09FB69-657D-A605-F185-B00360085886}"/>
              </a:ext>
            </a:extLst>
          </p:cNvPr>
          <p:cNvSpPr/>
          <p:nvPr/>
        </p:nvSpPr>
        <p:spPr>
          <a:xfrm>
            <a:off x="1024384" y="9618000"/>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3" name="Picture 2">
            <a:extLst>
              <a:ext uri="{FF2B5EF4-FFF2-40B4-BE49-F238E27FC236}">
                <a16:creationId xmlns:a16="http://schemas.microsoft.com/office/drawing/2014/main" id="{C7AEBA11-B7E3-99D7-CBEB-0A5ED8BD667C}"/>
              </a:ext>
            </a:extLst>
          </p:cNvPr>
          <p:cNvPicPr>
            <a:picLocks noChangeAspect="1"/>
          </p:cNvPicPr>
          <p:nvPr/>
        </p:nvPicPr>
        <p:blipFill>
          <a:blip r:embed="rId4"/>
          <a:stretch>
            <a:fillRect/>
          </a:stretch>
        </p:blipFill>
        <p:spPr>
          <a:xfrm>
            <a:off x="706982" y="542925"/>
            <a:ext cx="16874035" cy="9399973"/>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004573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901A12FA-DADC-90F7-7C9B-D9C8E7A6AAEF}"/>
            </a:ext>
          </a:extLst>
        </p:cNvPr>
        <p:cNvGrpSpPr/>
        <p:nvPr/>
      </p:nvGrpSpPr>
      <p:grpSpPr>
        <a:xfrm>
          <a:off x="0" y="0"/>
          <a:ext cx="0" cy="0"/>
          <a:chOff x="0" y="0"/>
          <a:chExt cx="0" cy="0"/>
        </a:xfrm>
      </p:grpSpPr>
      <p:sp>
        <p:nvSpPr>
          <p:cNvPr id="13" name="Freeform 13">
            <a:extLst>
              <a:ext uri="{FF2B5EF4-FFF2-40B4-BE49-F238E27FC236}">
                <a16:creationId xmlns:a16="http://schemas.microsoft.com/office/drawing/2014/main" id="{7B02DE9F-6957-BB8C-724F-7886579A088F}"/>
              </a:ext>
            </a:extLst>
          </p:cNvPr>
          <p:cNvSpPr/>
          <p:nvPr/>
        </p:nvSpPr>
        <p:spPr>
          <a:xfrm>
            <a:off x="15846003" y="571500"/>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4">
            <a:extLst>
              <a:ext uri="{FF2B5EF4-FFF2-40B4-BE49-F238E27FC236}">
                <a16:creationId xmlns:a16="http://schemas.microsoft.com/office/drawing/2014/main" id="{753BAD42-90A8-E621-9F6F-297C54FCD820}"/>
              </a:ext>
            </a:extLst>
          </p:cNvPr>
          <p:cNvSpPr/>
          <p:nvPr/>
        </p:nvSpPr>
        <p:spPr>
          <a:xfrm>
            <a:off x="609600"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4" name="Picture 3">
            <a:extLst>
              <a:ext uri="{FF2B5EF4-FFF2-40B4-BE49-F238E27FC236}">
                <a16:creationId xmlns:a16="http://schemas.microsoft.com/office/drawing/2014/main" id="{CE719C72-2E16-3145-C0F6-ED6A7C8A9EB3}"/>
              </a:ext>
            </a:extLst>
          </p:cNvPr>
          <p:cNvPicPr>
            <a:picLocks noChangeAspect="1"/>
          </p:cNvPicPr>
          <p:nvPr/>
        </p:nvPicPr>
        <p:blipFill>
          <a:blip r:embed="rId5"/>
          <a:stretch>
            <a:fillRect/>
          </a:stretch>
        </p:blipFill>
        <p:spPr>
          <a:xfrm>
            <a:off x="1195916" y="1124536"/>
            <a:ext cx="15896168" cy="8037927"/>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00807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3829150" y="0"/>
            <a:ext cx="4627349" cy="10287000"/>
            <a:chOff x="0" y="0"/>
            <a:chExt cx="1218726" cy="2709333"/>
          </a:xfrm>
        </p:grpSpPr>
        <p:sp>
          <p:nvSpPr>
            <p:cNvPr id="3" name="Freeform 3"/>
            <p:cNvSpPr/>
            <p:nvPr/>
          </p:nvSpPr>
          <p:spPr>
            <a:xfrm>
              <a:off x="0" y="0"/>
              <a:ext cx="1218726" cy="2709333"/>
            </a:xfrm>
            <a:custGeom>
              <a:avLst/>
              <a:gdLst/>
              <a:ahLst/>
              <a:cxnLst/>
              <a:rect l="l" t="t" r="r" b="b"/>
              <a:pathLst>
                <a:path w="1218726" h="2709333">
                  <a:moveTo>
                    <a:pt x="0" y="0"/>
                  </a:moveTo>
                  <a:lnTo>
                    <a:pt x="1218726" y="0"/>
                  </a:lnTo>
                  <a:lnTo>
                    <a:pt x="1218726" y="2709333"/>
                  </a:lnTo>
                  <a:lnTo>
                    <a:pt x="0" y="2709333"/>
                  </a:lnTo>
                  <a:close/>
                </a:path>
              </a:pathLst>
            </a:custGeom>
            <a:solidFill>
              <a:srgbClr val="7994A0"/>
            </a:solidFill>
          </p:spPr>
        </p:sp>
        <p:sp>
          <p:nvSpPr>
            <p:cNvPr id="4" name="TextBox 4"/>
            <p:cNvSpPr txBox="1"/>
            <p:nvPr/>
          </p:nvSpPr>
          <p:spPr>
            <a:xfrm>
              <a:off x="0" y="-123825"/>
              <a:ext cx="1218726" cy="2833158"/>
            </a:xfrm>
            <a:prstGeom prst="rect">
              <a:avLst/>
            </a:prstGeom>
          </p:spPr>
          <p:txBody>
            <a:bodyPr lIns="50800" tIns="50800" rIns="50800" bIns="50800" rtlCol="0" anchor="ctr"/>
            <a:lstStyle/>
            <a:p>
              <a:pPr algn="ctr">
                <a:lnSpc>
                  <a:spcPts val="4079"/>
                </a:lnSpc>
              </a:pPr>
              <a:endParaRPr/>
            </a:p>
          </p:txBody>
        </p:sp>
      </p:grpSp>
      <p:pic>
        <p:nvPicPr>
          <p:cNvPr id="12" name="Picture 11">
            <a:extLst>
              <a:ext uri="{FF2B5EF4-FFF2-40B4-BE49-F238E27FC236}">
                <a16:creationId xmlns:a16="http://schemas.microsoft.com/office/drawing/2014/main" id="{873C067D-D25D-18B2-13BD-ABB5FB9BE253}"/>
              </a:ext>
            </a:extLst>
          </p:cNvPr>
          <p:cNvPicPr>
            <a:picLocks noChangeAspect="1"/>
          </p:cNvPicPr>
          <p:nvPr/>
        </p:nvPicPr>
        <p:blipFill>
          <a:blip r:embed="rId2"/>
          <a:stretch>
            <a:fillRect/>
          </a:stretch>
        </p:blipFill>
        <p:spPr>
          <a:xfrm>
            <a:off x="914400" y="961332"/>
            <a:ext cx="12897544" cy="7894187"/>
          </a:xfrm>
          <a:prstGeom prst="rect">
            <a:avLst/>
          </a:prstGeom>
          <a:ln>
            <a:noFill/>
          </a:ln>
          <a:effectLst>
            <a:softEdge rad="112500"/>
          </a:effectLst>
        </p:spPr>
      </p:pic>
      <p:pic>
        <p:nvPicPr>
          <p:cNvPr id="8" name="Picture 7">
            <a:extLst>
              <a:ext uri="{FF2B5EF4-FFF2-40B4-BE49-F238E27FC236}">
                <a16:creationId xmlns:a16="http://schemas.microsoft.com/office/drawing/2014/main" id="{C175CA4E-77A1-C129-1B0D-B3DA139C8D76}"/>
              </a:ext>
            </a:extLst>
          </p:cNvPr>
          <p:cNvPicPr>
            <a:picLocks noChangeAspect="1"/>
          </p:cNvPicPr>
          <p:nvPr/>
        </p:nvPicPr>
        <p:blipFill>
          <a:blip r:embed="rId3"/>
          <a:stretch>
            <a:fillRect/>
          </a:stretch>
        </p:blipFill>
        <p:spPr>
          <a:xfrm>
            <a:off x="808772" y="1050362"/>
            <a:ext cx="12658320" cy="8259329"/>
          </a:xfrm>
          <a:prstGeom prst="rect">
            <a:avLst/>
          </a:prstGeom>
          <a:ln w="228600" cap="sq" cmpd="thickThin">
            <a:solidFill>
              <a:srgbClr val="000000"/>
            </a:solidFill>
            <a:prstDash val="solid"/>
            <a:miter lim="800000"/>
          </a:ln>
          <a:effectLst>
            <a:innerShdw blurRad="76200">
              <a:srgbClr val="000000"/>
            </a:innerShdw>
          </a:effectLst>
        </p:spPr>
      </p:pic>
      <p:sp>
        <p:nvSpPr>
          <p:cNvPr id="16" name="Freeform 7">
            <a:extLst>
              <a:ext uri="{FF2B5EF4-FFF2-40B4-BE49-F238E27FC236}">
                <a16:creationId xmlns:a16="http://schemas.microsoft.com/office/drawing/2014/main" id="{582E4A31-C0FC-5D80-0DD4-7800B996A1EA}"/>
              </a:ext>
            </a:extLst>
          </p:cNvPr>
          <p:cNvSpPr/>
          <p:nvPr/>
        </p:nvSpPr>
        <p:spPr>
          <a:xfrm>
            <a:off x="1028700" y="8974931"/>
            <a:ext cx="1905000" cy="283369"/>
          </a:xfrm>
          <a:custGeom>
            <a:avLst/>
            <a:gdLst/>
            <a:ahLst/>
            <a:cxnLst/>
            <a:rect l="l" t="t" r="r" b="b"/>
            <a:pathLst>
              <a:path w="1905000" h="283369">
                <a:moveTo>
                  <a:pt x="0" y="0"/>
                </a:moveTo>
                <a:lnTo>
                  <a:pt x="1905000" y="0"/>
                </a:lnTo>
                <a:lnTo>
                  <a:pt x="1905000" y="283369"/>
                </a:lnTo>
                <a:lnTo>
                  <a:pt x="0" y="2833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9" name="Picture 8">
            <a:extLst>
              <a:ext uri="{FF2B5EF4-FFF2-40B4-BE49-F238E27FC236}">
                <a16:creationId xmlns:a16="http://schemas.microsoft.com/office/drawing/2014/main" id="{2F763A3E-80A8-9BD2-8EC9-4557603FD28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06353" y="1207850"/>
            <a:ext cx="10111533" cy="6972474"/>
          </a:xfrm>
          <a:prstGeom prst="rect">
            <a:avLst/>
          </a:prstGeom>
        </p:spPr>
      </p:pic>
      <p:sp>
        <p:nvSpPr>
          <p:cNvPr id="14" name="Rectangle: Rounded Corners 13">
            <a:extLst>
              <a:ext uri="{FF2B5EF4-FFF2-40B4-BE49-F238E27FC236}">
                <a16:creationId xmlns:a16="http://schemas.microsoft.com/office/drawing/2014/main" id="{9A6CC969-976B-545C-1D02-29060EB02B11}"/>
              </a:ext>
            </a:extLst>
          </p:cNvPr>
          <p:cNvSpPr/>
          <p:nvPr/>
        </p:nvSpPr>
        <p:spPr>
          <a:xfrm>
            <a:off x="2764204" y="6866998"/>
            <a:ext cx="4038600" cy="1143000"/>
          </a:xfrm>
          <a:prstGeom prst="round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1" name="Picture 10">
            <a:extLst>
              <a:ext uri="{FF2B5EF4-FFF2-40B4-BE49-F238E27FC236}">
                <a16:creationId xmlns:a16="http://schemas.microsoft.com/office/drawing/2014/main" id="{6D9706B4-7FE6-378F-81BC-87E24C16B48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44218" y="481350"/>
            <a:ext cx="10869542" cy="8259328"/>
          </a:xfrm>
          <a:prstGeom prst="rect">
            <a:avLst/>
          </a:prstGeom>
        </p:spPr>
      </p:pic>
      <p:sp>
        <p:nvSpPr>
          <p:cNvPr id="15" name="Oval 14">
            <a:extLst>
              <a:ext uri="{FF2B5EF4-FFF2-40B4-BE49-F238E27FC236}">
                <a16:creationId xmlns:a16="http://schemas.microsoft.com/office/drawing/2014/main" id="{F58AE1F9-640C-72FB-990E-2C878D4D50BE}"/>
              </a:ext>
            </a:extLst>
          </p:cNvPr>
          <p:cNvSpPr/>
          <p:nvPr/>
        </p:nvSpPr>
        <p:spPr>
          <a:xfrm>
            <a:off x="8915400" y="3467100"/>
            <a:ext cx="4432594" cy="5477449"/>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FB24D2F-C2B0-888C-FF67-25219A634A6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66479" y="1543473"/>
            <a:ext cx="10297962" cy="7649643"/>
          </a:xfrm>
          <a:prstGeom prst="rect">
            <a:avLst/>
          </a:prstGeom>
        </p:spPr>
      </p:pic>
      <p:sp>
        <p:nvSpPr>
          <p:cNvPr id="17" name="Rectangle 16">
            <a:extLst>
              <a:ext uri="{FF2B5EF4-FFF2-40B4-BE49-F238E27FC236}">
                <a16:creationId xmlns:a16="http://schemas.microsoft.com/office/drawing/2014/main" id="{C69AA2DA-39F0-9DB8-2B2A-D0DE66254EA1}"/>
              </a:ext>
            </a:extLst>
          </p:cNvPr>
          <p:cNvSpPr/>
          <p:nvPr/>
        </p:nvSpPr>
        <p:spPr>
          <a:xfrm>
            <a:off x="10637374" y="5018546"/>
            <a:ext cx="5562600" cy="3956385"/>
          </a:xfrm>
          <a:prstGeom prst="rect">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anim calcmode="lin" valueType="num">
                                      <p:cBhvr>
                                        <p:cTn id="33" dur="1000" fill="hold"/>
                                        <p:tgtEl>
                                          <p:spTgt spid="15"/>
                                        </p:tgtEl>
                                        <p:attrNameLst>
                                          <p:attrName>ppt_x</p:attrName>
                                        </p:attrNameLst>
                                      </p:cBhvr>
                                      <p:tavLst>
                                        <p:tav tm="0">
                                          <p:val>
                                            <p:strVal val="#ppt_x"/>
                                          </p:val>
                                        </p:tav>
                                        <p:tav tm="100000">
                                          <p:val>
                                            <p:strVal val="#ppt_x"/>
                                          </p:val>
                                        </p:tav>
                                      </p:tavLst>
                                    </p:anim>
                                    <p:anim calcmode="lin" valueType="num">
                                      <p:cBhvr>
                                        <p:cTn id="3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4" name="Group 4"/>
          <p:cNvGrpSpPr/>
          <p:nvPr/>
        </p:nvGrpSpPr>
        <p:grpSpPr>
          <a:xfrm>
            <a:off x="8457779" y="-1346448"/>
            <a:ext cx="16001999" cy="11633448"/>
            <a:chOff x="-1623377" y="-123825"/>
            <a:chExt cx="4214518" cy="3063953"/>
          </a:xfrm>
        </p:grpSpPr>
        <p:sp>
          <p:nvSpPr>
            <p:cNvPr id="5" name="Freeform 5"/>
            <p:cNvSpPr/>
            <p:nvPr/>
          </p:nvSpPr>
          <p:spPr>
            <a:xfrm>
              <a:off x="-1623377" y="230795"/>
              <a:ext cx="2591141" cy="2709333"/>
            </a:xfrm>
            <a:custGeom>
              <a:avLst/>
              <a:gdLst/>
              <a:ahLst/>
              <a:cxnLst/>
              <a:rect l="l" t="t" r="r" b="b"/>
              <a:pathLst>
                <a:path w="2591141" h="2709333">
                  <a:moveTo>
                    <a:pt x="0" y="0"/>
                  </a:moveTo>
                  <a:lnTo>
                    <a:pt x="2591141" y="0"/>
                  </a:lnTo>
                  <a:lnTo>
                    <a:pt x="2591141" y="2709333"/>
                  </a:lnTo>
                  <a:lnTo>
                    <a:pt x="0" y="2709333"/>
                  </a:lnTo>
                  <a:close/>
                </a:path>
              </a:pathLst>
            </a:custGeom>
            <a:solidFill>
              <a:srgbClr val="DBE5EA"/>
            </a:solidFill>
          </p:spPr>
        </p:sp>
        <p:sp>
          <p:nvSpPr>
            <p:cNvPr id="6" name="TextBox 6"/>
            <p:cNvSpPr txBox="1"/>
            <p:nvPr/>
          </p:nvSpPr>
          <p:spPr>
            <a:xfrm>
              <a:off x="0" y="-123825"/>
              <a:ext cx="2591141" cy="2833158"/>
            </a:xfrm>
            <a:prstGeom prst="rect">
              <a:avLst/>
            </a:prstGeom>
          </p:spPr>
          <p:txBody>
            <a:bodyPr lIns="50800" tIns="50800" rIns="50800" bIns="50800" rtlCol="0" anchor="ctr"/>
            <a:lstStyle/>
            <a:p>
              <a:pPr algn="ctr">
                <a:lnSpc>
                  <a:spcPts val="4079"/>
                </a:lnSpc>
              </a:pPr>
              <a:endParaRPr/>
            </a:p>
          </p:txBody>
        </p:sp>
      </p:grpSp>
      <p:sp>
        <p:nvSpPr>
          <p:cNvPr id="7" name="TextBox 7"/>
          <p:cNvSpPr txBox="1"/>
          <p:nvPr/>
        </p:nvSpPr>
        <p:spPr>
          <a:xfrm>
            <a:off x="685800" y="59541"/>
            <a:ext cx="16459200" cy="1099019"/>
          </a:xfrm>
          <a:prstGeom prst="rect">
            <a:avLst/>
          </a:prstGeom>
        </p:spPr>
        <p:txBody>
          <a:bodyPr wrap="square" lIns="0" tIns="0" rIns="0" bIns="0" rtlCol="0" anchor="t">
            <a:spAutoFit/>
          </a:bodyPr>
          <a:lstStyle/>
          <a:p>
            <a:pPr>
              <a:lnSpc>
                <a:spcPts val="8959"/>
              </a:lnSpc>
              <a:spcBef>
                <a:spcPct val="0"/>
              </a:spcBef>
            </a:pPr>
            <a:r>
              <a:rPr lang="de-DE" sz="6399" b="1" i="1" dirty="0">
                <a:solidFill>
                  <a:srgbClr val="0F4662"/>
                </a:solidFill>
                <a:latin typeface="Cormorant Garamond Bold Italics"/>
              </a:rPr>
              <a:t>Clusterprofile der Mundgesundheit (K‑</a:t>
            </a:r>
            <a:r>
              <a:rPr lang="de-DE" sz="6399" b="1" i="1" dirty="0" err="1">
                <a:solidFill>
                  <a:srgbClr val="0F4662"/>
                </a:solidFill>
                <a:latin typeface="Cormorant Garamond Bold Italics"/>
              </a:rPr>
              <a:t>Means</a:t>
            </a:r>
            <a:r>
              <a:rPr lang="de-DE" sz="6399" b="1" i="1" dirty="0">
                <a:solidFill>
                  <a:srgbClr val="0F4662"/>
                </a:solidFill>
                <a:latin typeface="Cormorant Garamond Bold Italics"/>
              </a:rPr>
              <a:t>)</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14" name="AutoShape 14"/>
          <p:cNvSpPr/>
          <p:nvPr/>
        </p:nvSpPr>
        <p:spPr>
          <a:xfrm>
            <a:off x="1028700" y="9741523"/>
            <a:ext cx="6492240" cy="0"/>
          </a:xfrm>
          <a:prstGeom prst="line">
            <a:avLst/>
          </a:prstGeom>
          <a:ln w="76200" cap="flat">
            <a:solidFill>
              <a:srgbClr val="0F4662"/>
            </a:solidFill>
            <a:prstDash val="solid"/>
            <a:headEnd type="none" w="sm" len="sm"/>
            <a:tailEnd type="none" w="sm" len="sm"/>
          </a:ln>
        </p:spPr>
      </p:sp>
      <p:sp>
        <p:nvSpPr>
          <p:cNvPr id="15" name="AutoShape 15"/>
          <p:cNvSpPr/>
          <p:nvPr/>
        </p:nvSpPr>
        <p:spPr>
          <a:xfrm>
            <a:off x="10767060" y="1181100"/>
            <a:ext cx="6492240" cy="0"/>
          </a:xfrm>
          <a:prstGeom prst="line">
            <a:avLst/>
          </a:prstGeom>
          <a:ln w="76200" cap="flat">
            <a:solidFill>
              <a:srgbClr val="0F4662"/>
            </a:solidFill>
            <a:prstDash val="solid"/>
            <a:headEnd type="none" w="sm" len="sm"/>
            <a:tailEnd type="none" w="sm" len="sm"/>
          </a:ln>
        </p:spPr>
      </p:sp>
      <p:pic>
        <p:nvPicPr>
          <p:cNvPr id="3" name="Picture 2">
            <a:extLst>
              <a:ext uri="{FF2B5EF4-FFF2-40B4-BE49-F238E27FC236}">
                <a16:creationId xmlns:a16="http://schemas.microsoft.com/office/drawing/2014/main" id="{31D7B59C-D619-956F-24EB-609A19132A6D}"/>
              </a:ext>
            </a:extLst>
          </p:cNvPr>
          <p:cNvPicPr>
            <a:picLocks noChangeAspect="1"/>
          </p:cNvPicPr>
          <p:nvPr/>
        </p:nvPicPr>
        <p:blipFill>
          <a:blip r:embed="rId3"/>
          <a:stretch>
            <a:fillRect/>
          </a:stretch>
        </p:blipFill>
        <p:spPr>
          <a:xfrm>
            <a:off x="5103927" y="1790706"/>
            <a:ext cx="13101619" cy="7405263"/>
          </a:xfrm>
          <a:prstGeom prst="rect">
            <a:avLst/>
          </a:prstGeom>
        </p:spPr>
      </p:pic>
      <p:pic>
        <p:nvPicPr>
          <p:cNvPr id="8" name="Picture 7">
            <a:extLst>
              <a:ext uri="{FF2B5EF4-FFF2-40B4-BE49-F238E27FC236}">
                <a16:creationId xmlns:a16="http://schemas.microsoft.com/office/drawing/2014/main" id="{9CD03342-7634-3549-323B-E098CA26536C}"/>
              </a:ext>
            </a:extLst>
          </p:cNvPr>
          <p:cNvPicPr>
            <a:picLocks noChangeAspect="1"/>
          </p:cNvPicPr>
          <p:nvPr/>
        </p:nvPicPr>
        <p:blipFill>
          <a:blip r:embed="rId4"/>
          <a:stretch>
            <a:fillRect/>
          </a:stretch>
        </p:blipFill>
        <p:spPr>
          <a:xfrm>
            <a:off x="0" y="4691217"/>
            <a:ext cx="6068272" cy="3962953"/>
          </a:xfrm>
          <a:prstGeom prst="rect">
            <a:avLst/>
          </a:prstGeom>
          <a:ln>
            <a:noFill/>
          </a:ln>
          <a:effectLst>
            <a:softEdge rad="11250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61588B60-ACC0-6B4F-03AE-D839A9F6EAFC}"/>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1A6A191A-FE85-7918-D6F1-2C8A80DEC86C}"/>
              </a:ext>
            </a:extLst>
          </p:cNvPr>
          <p:cNvGrpSpPr/>
          <p:nvPr/>
        </p:nvGrpSpPr>
        <p:grpSpPr>
          <a:xfrm>
            <a:off x="8457779" y="-1346448"/>
            <a:ext cx="16001999" cy="11633448"/>
            <a:chOff x="-1623377" y="-123825"/>
            <a:chExt cx="4214518" cy="3063953"/>
          </a:xfrm>
        </p:grpSpPr>
        <p:sp>
          <p:nvSpPr>
            <p:cNvPr id="5" name="Freeform 5">
              <a:extLst>
                <a:ext uri="{FF2B5EF4-FFF2-40B4-BE49-F238E27FC236}">
                  <a16:creationId xmlns:a16="http://schemas.microsoft.com/office/drawing/2014/main" id="{72CECCD7-3F62-CCEC-F75A-D9CA3800F096}"/>
                </a:ext>
              </a:extLst>
            </p:cNvPr>
            <p:cNvSpPr/>
            <p:nvPr/>
          </p:nvSpPr>
          <p:spPr>
            <a:xfrm>
              <a:off x="-1623377" y="230795"/>
              <a:ext cx="2591141" cy="2709333"/>
            </a:xfrm>
            <a:custGeom>
              <a:avLst/>
              <a:gdLst/>
              <a:ahLst/>
              <a:cxnLst/>
              <a:rect l="l" t="t" r="r" b="b"/>
              <a:pathLst>
                <a:path w="2591141" h="2709333">
                  <a:moveTo>
                    <a:pt x="0" y="0"/>
                  </a:moveTo>
                  <a:lnTo>
                    <a:pt x="2591141" y="0"/>
                  </a:lnTo>
                  <a:lnTo>
                    <a:pt x="2591141" y="2709333"/>
                  </a:lnTo>
                  <a:lnTo>
                    <a:pt x="0" y="2709333"/>
                  </a:lnTo>
                  <a:close/>
                </a:path>
              </a:pathLst>
            </a:custGeom>
            <a:solidFill>
              <a:srgbClr val="DBE5EA"/>
            </a:solidFill>
          </p:spPr>
        </p:sp>
        <p:sp>
          <p:nvSpPr>
            <p:cNvPr id="6" name="TextBox 6">
              <a:extLst>
                <a:ext uri="{FF2B5EF4-FFF2-40B4-BE49-F238E27FC236}">
                  <a16:creationId xmlns:a16="http://schemas.microsoft.com/office/drawing/2014/main" id="{8F6856D3-D7B7-F9C2-0958-885CC3F0AD08}"/>
                </a:ext>
              </a:extLst>
            </p:cNvPr>
            <p:cNvSpPr txBox="1"/>
            <p:nvPr/>
          </p:nvSpPr>
          <p:spPr>
            <a:xfrm>
              <a:off x="0" y="-123825"/>
              <a:ext cx="2591141" cy="2833158"/>
            </a:xfrm>
            <a:prstGeom prst="rect">
              <a:avLst/>
            </a:prstGeom>
          </p:spPr>
          <p:txBody>
            <a:bodyPr lIns="50800" tIns="50800" rIns="50800" bIns="50800" rtlCol="0" anchor="ctr"/>
            <a:lstStyle/>
            <a:p>
              <a:pPr algn="ctr">
                <a:lnSpc>
                  <a:spcPts val="4079"/>
                </a:lnSpc>
              </a:pPr>
              <a:endParaRPr/>
            </a:p>
          </p:txBody>
        </p:sp>
      </p:grpSp>
      <p:sp>
        <p:nvSpPr>
          <p:cNvPr id="7" name="TextBox 7">
            <a:extLst>
              <a:ext uri="{FF2B5EF4-FFF2-40B4-BE49-F238E27FC236}">
                <a16:creationId xmlns:a16="http://schemas.microsoft.com/office/drawing/2014/main" id="{CEA2097F-1692-0885-427D-4FE6C701539A}"/>
              </a:ext>
            </a:extLst>
          </p:cNvPr>
          <p:cNvSpPr txBox="1"/>
          <p:nvPr/>
        </p:nvSpPr>
        <p:spPr>
          <a:xfrm>
            <a:off x="913979" y="80897"/>
            <a:ext cx="15087600" cy="1099019"/>
          </a:xfrm>
          <a:prstGeom prst="rect">
            <a:avLst/>
          </a:prstGeom>
        </p:spPr>
        <p:txBody>
          <a:bodyPr wrap="square" lIns="0" tIns="0" rIns="0" bIns="0" rtlCol="0" anchor="t">
            <a:spAutoFit/>
          </a:bodyPr>
          <a:lstStyle/>
          <a:p>
            <a:pPr>
              <a:lnSpc>
                <a:spcPts val="8959"/>
              </a:lnSpc>
              <a:spcBef>
                <a:spcPct val="0"/>
              </a:spcBef>
            </a:pPr>
            <a:r>
              <a:rPr lang="de-DE" sz="6399" b="1" i="1" dirty="0">
                <a:solidFill>
                  <a:srgbClr val="0F4662"/>
                </a:solidFill>
                <a:latin typeface="Cormorant Garamond Bold Italics"/>
              </a:rPr>
              <a:t>Clusterprofile der Mundgesundheit (K‑</a:t>
            </a:r>
            <a:r>
              <a:rPr lang="de-DE" sz="6399" b="1" i="1" dirty="0" err="1">
                <a:solidFill>
                  <a:srgbClr val="0F4662"/>
                </a:solidFill>
                <a:latin typeface="Cormorant Garamond Bold Italics"/>
              </a:rPr>
              <a:t>Means</a:t>
            </a:r>
            <a:r>
              <a:rPr lang="de-DE" sz="6399" b="1" i="1" dirty="0">
                <a:solidFill>
                  <a:srgbClr val="0F4662"/>
                </a:solidFill>
                <a:latin typeface="Cormorant Garamond Bold Italics"/>
              </a:rPr>
              <a:t>)</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14" name="AutoShape 14">
            <a:extLst>
              <a:ext uri="{FF2B5EF4-FFF2-40B4-BE49-F238E27FC236}">
                <a16:creationId xmlns:a16="http://schemas.microsoft.com/office/drawing/2014/main" id="{66B2B3D0-3AEB-214B-DBE3-43BBD9FEBE32}"/>
              </a:ext>
            </a:extLst>
          </p:cNvPr>
          <p:cNvSpPr/>
          <p:nvPr/>
        </p:nvSpPr>
        <p:spPr>
          <a:xfrm>
            <a:off x="1028700" y="9741523"/>
            <a:ext cx="6492240" cy="0"/>
          </a:xfrm>
          <a:prstGeom prst="line">
            <a:avLst/>
          </a:prstGeom>
          <a:ln w="76200" cap="flat">
            <a:solidFill>
              <a:srgbClr val="0F4662"/>
            </a:solidFill>
            <a:prstDash val="solid"/>
            <a:headEnd type="none" w="sm" len="sm"/>
            <a:tailEnd type="none" w="sm" len="sm"/>
          </a:ln>
        </p:spPr>
      </p:sp>
      <p:sp>
        <p:nvSpPr>
          <p:cNvPr id="15" name="AutoShape 15">
            <a:extLst>
              <a:ext uri="{FF2B5EF4-FFF2-40B4-BE49-F238E27FC236}">
                <a16:creationId xmlns:a16="http://schemas.microsoft.com/office/drawing/2014/main" id="{28681E49-131D-F7BF-02A3-526CEE833FF0}"/>
              </a:ext>
            </a:extLst>
          </p:cNvPr>
          <p:cNvSpPr/>
          <p:nvPr/>
        </p:nvSpPr>
        <p:spPr>
          <a:xfrm>
            <a:off x="11201400" y="1104900"/>
            <a:ext cx="6492240" cy="0"/>
          </a:xfrm>
          <a:prstGeom prst="line">
            <a:avLst/>
          </a:prstGeom>
          <a:ln w="76200" cap="flat">
            <a:solidFill>
              <a:srgbClr val="0F4662"/>
            </a:solidFill>
            <a:prstDash val="solid"/>
            <a:headEnd type="none" w="sm" len="sm"/>
            <a:tailEnd type="none" w="sm" len="sm"/>
          </a:ln>
        </p:spPr>
      </p:sp>
      <p:pic>
        <p:nvPicPr>
          <p:cNvPr id="8" name="Picture 7">
            <a:extLst>
              <a:ext uri="{FF2B5EF4-FFF2-40B4-BE49-F238E27FC236}">
                <a16:creationId xmlns:a16="http://schemas.microsoft.com/office/drawing/2014/main" id="{00A3DFE2-228F-FA9B-A44D-70141AEC5AF1}"/>
              </a:ext>
            </a:extLst>
          </p:cNvPr>
          <p:cNvPicPr>
            <a:picLocks noChangeAspect="1"/>
          </p:cNvPicPr>
          <p:nvPr/>
        </p:nvPicPr>
        <p:blipFill>
          <a:blip r:embed="rId3"/>
          <a:stretch>
            <a:fillRect/>
          </a:stretch>
        </p:blipFill>
        <p:spPr>
          <a:xfrm>
            <a:off x="4463960" y="1562101"/>
            <a:ext cx="13511448" cy="7962681"/>
          </a:xfrm>
          <a:prstGeom prst="rect">
            <a:avLst/>
          </a:prstGeom>
        </p:spPr>
      </p:pic>
      <p:pic>
        <p:nvPicPr>
          <p:cNvPr id="9" name="Picture 8">
            <a:extLst>
              <a:ext uri="{FF2B5EF4-FFF2-40B4-BE49-F238E27FC236}">
                <a16:creationId xmlns:a16="http://schemas.microsoft.com/office/drawing/2014/main" id="{BE2CD47B-3DC0-FD3F-572D-12860C7469C6}"/>
              </a:ext>
            </a:extLst>
          </p:cNvPr>
          <p:cNvPicPr>
            <a:picLocks noChangeAspect="1"/>
          </p:cNvPicPr>
          <p:nvPr/>
        </p:nvPicPr>
        <p:blipFill>
          <a:blip r:embed="rId4"/>
          <a:stretch>
            <a:fillRect/>
          </a:stretch>
        </p:blipFill>
        <p:spPr>
          <a:xfrm>
            <a:off x="162608" y="3759888"/>
            <a:ext cx="6011114" cy="3924848"/>
          </a:xfrm>
          <a:prstGeom prst="rect">
            <a:avLst/>
          </a:prstGeom>
          <a:ln>
            <a:noFill/>
          </a:ln>
          <a:effectLst>
            <a:softEdge rad="112500"/>
          </a:effectLst>
        </p:spPr>
      </p:pic>
    </p:spTree>
    <p:extLst>
      <p:ext uri="{BB962C8B-B14F-4D97-AF65-F5344CB8AC3E}">
        <p14:creationId xmlns:p14="http://schemas.microsoft.com/office/powerpoint/2010/main" val="1662547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10" name="TextBox 10"/>
          <p:cNvSpPr txBox="1"/>
          <p:nvPr/>
        </p:nvSpPr>
        <p:spPr>
          <a:xfrm>
            <a:off x="533401" y="419100"/>
            <a:ext cx="17499842" cy="1062599"/>
          </a:xfrm>
          <a:prstGeom prst="rect">
            <a:avLst/>
          </a:prstGeom>
        </p:spPr>
        <p:txBody>
          <a:bodyPr wrap="square" lIns="0" tIns="0" rIns="0" bIns="0" rtlCol="0" anchor="t">
            <a:spAutoFit/>
          </a:bodyPr>
          <a:lstStyle/>
          <a:p>
            <a:pPr lvl="0">
              <a:lnSpc>
                <a:spcPts val="8959"/>
              </a:lnSpc>
              <a:spcBef>
                <a:spcPct val="0"/>
              </a:spcBef>
            </a:pPr>
            <a:r>
              <a:rPr lang="de-DE" sz="5400" b="1" i="1" dirty="0">
                <a:solidFill>
                  <a:srgbClr val="0F4662"/>
                </a:solidFill>
                <a:latin typeface="Cormorant Garamond Bold Italics"/>
              </a:rPr>
              <a:t>Durchschnittliche numerische Indikatoren nach Clustern – </a:t>
            </a:r>
            <a:r>
              <a:rPr lang="de-DE" sz="5400" b="1" i="1" dirty="0" err="1">
                <a:solidFill>
                  <a:srgbClr val="0F4662"/>
                </a:solidFill>
                <a:latin typeface="Cormorant Garamond Bold Italics"/>
              </a:rPr>
              <a:t>Heatmap</a:t>
            </a:r>
            <a:endParaRPr lang="en-US" sz="5400" b="1" i="1" dirty="0">
              <a:solidFill>
                <a:srgbClr val="0F4662"/>
              </a:solidFill>
              <a:latin typeface="Cormorant Garamond Bold Italics"/>
              <a:sym typeface="Cormorant Garamond Bold Italics"/>
            </a:endParaRPr>
          </a:p>
        </p:txBody>
      </p:sp>
      <p:pic>
        <p:nvPicPr>
          <p:cNvPr id="3" name="Picture 2">
            <a:extLst>
              <a:ext uri="{FF2B5EF4-FFF2-40B4-BE49-F238E27FC236}">
                <a16:creationId xmlns:a16="http://schemas.microsoft.com/office/drawing/2014/main" id="{368E6C1B-2E72-7547-1B07-9095EFE305EF}"/>
              </a:ext>
            </a:extLst>
          </p:cNvPr>
          <p:cNvPicPr>
            <a:picLocks noChangeAspect="1"/>
          </p:cNvPicPr>
          <p:nvPr/>
        </p:nvPicPr>
        <p:blipFill>
          <a:blip r:embed="rId3"/>
          <a:stretch>
            <a:fillRect/>
          </a:stretch>
        </p:blipFill>
        <p:spPr>
          <a:xfrm>
            <a:off x="283332" y="2324100"/>
            <a:ext cx="8134161" cy="6934200"/>
          </a:xfrm>
          <a:prstGeom prst="rect">
            <a:avLst/>
          </a:prstGeom>
          <a:ln>
            <a:noFill/>
          </a:ln>
          <a:effectLst>
            <a:softEdge rad="112500"/>
          </a:effectLst>
        </p:spPr>
      </p:pic>
      <p:pic>
        <p:nvPicPr>
          <p:cNvPr id="5" name="Picture 4">
            <a:extLst>
              <a:ext uri="{FF2B5EF4-FFF2-40B4-BE49-F238E27FC236}">
                <a16:creationId xmlns:a16="http://schemas.microsoft.com/office/drawing/2014/main" id="{C1791A81-7849-277F-71DD-F247160ADCE5}"/>
              </a:ext>
            </a:extLst>
          </p:cNvPr>
          <p:cNvPicPr>
            <a:picLocks noChangeAspect="1"/>
          </p:cNvPicPr>
          <p:nvPr/>
        </p:nvPicPr>
        <p:blipFill>
          <a:blip r:embed="rId4"/>
          <a:stretch>
            <a:fillRect/>
          </a:stretch>
        </p:blipFill>
        <p:spPr>
          <a:xfrm>
            <a:off x="8446068" y="1523491"/>
            <a:ext cx="9587175" cy="8535417"/>
          </a:xfrm>
          <a:prstGeom prst="rect">
            <a:avLst/>
          </a:prstGeom>
          <a:ln>
            <a:noFill/>
          </a:ln>
          <a:effectLst>
            <a:softEdge rad="11250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1028700" y="599709"/>
            <a:ext cx="11537525" cy="1099019"/>
          </a:xfrm>
          <a:prstGeom prst="rect">
            <a:avLst/>
          </a:prstGeom>
        </p:spPr>
        <p:txBody>
          <a:bodyPr lIns="0" tIns="0" rIns="0" bIns="0" rtlCol="0" anchor="t">
            <a:spAutoFit/>
          </a:bodyPr>
          <a:lstStyle/>
          <a:p>
            <a:pPr marL="0" lvl="0" indent="0" algn="l">
              <a:lnSpc>
                <a:spcPts val="8959"/>
              </a:lnSpc>
              <a:spcBef>
                <a:spcPct val="0"/>
              </a:spcBef>
            </a:pPr>
            <a:r>
              <a:rPr lang="en-US" sz="6399" b="1" i="1" dirty="0" err="1">
                <a:solidFill>
                  <a:srgbClr val="0F4662"/>
                </a:solidFill>
                <a:latin typeface="Cormorant Garamond Bold Italics"/>
                <a:ea typeface="Cormorant Garamond Bold Italics"/>
                <a:cs typeface="Cormorant Garamond Bold Italics"/>
                <a:sym typeface="Cormorant Garamond Bold Italics"/>
              </a:rPr>
              <a:t>Regressionsmodelle</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19" name="AutoShape 14">
            <a:extLst>
              <a:ext uri="{FF2B5EF4-FFF2-40B4-BE49-F238E27FC236}">
                <a16:creationId xmlns:a16="http://schemas.microsoft.com/office/drawing/2014/main" id="{6A92B3B4-85AA-3093-3C26-6701E64C4085}"/>
              </a:ext>
            </a:extLst>
          </p:cNvPr>
          <p:cNvSpPr/>
          <p:nvPr/>
        </p:nvSpPr>
        <p:spPr>
          <a:xfrm flipV="1">
            <a:off x="1028700" y="9563099"/>
            <a:ext cx="16497300" cy="26023"/>
          </a:xfrm>
          <a:prstGeom prst="line">
            <a:avLst/>
          </a:prstGeom>
          <a:ln w="76200" cap="flat">
            <a:solidFill>
              <a:srgbClr val="0F4662"/>
            </a:solidFill>
            <a:prstDash val="solid"/>
            <a:headEnd type="none" w="sm" len="sm"/>
            <a:tailEnd type="none" w="sm" len="sm"/>
          </a:ln>
        </p:spPr>
      </p:sp>
      <p:pic>
        <p:nvPicPr>
          <p:cNvPr id="5" name="Picture 4">
            <a:extLst>
              <a:ext uri="{FF2B5EF4-FFF2-40B4-BE49-F238E27FC236}">
                <a16:creationId xmlns:a16="http://schemas.microsoft.com/office/drawing/2014/main" id="{E1813073-D12C-203C-6927-4ECFE1BEE410}"/>
              </a:ext>
            </a:extLst>
          </p:cNvPr>
          <p:cNvPicPr>
            <a:picLocks noChangeAspect="1"/>
          </p:cNvPicPr>
          <p:nvPr/>
        </p:nvPicPr>
        <p:blipFill>
          <a:blip r:embed="rId3"/>
          <a:stretch>
            <a:fillRect/>
          </a:stretch>
        </p:blipFill>
        <p:spPr>
          <a:xfrm>
            <a:off x="6934200" y="2351268"/>
            <a:ext cx="4210266" cy="1244664"/>
          </a:xfrm>
          <a:prstGeom prst="rect">
            <a:avLst/>
          </a:prstGeom>
          <a:effectLst>
            <a:glow rad="63500">
              <a:schemeClr val="accent1">
                <a:satMod val="175000"/>
                <a:alpha val="40000"/>
              </a:schemeClr>
            </a:glow>
          </a:effectLst>
        </p:spPr>
      </p:pic>
      <p:pic>
        <p:nvPicPr>
          <p:cNvPr id="9" name="Picture 8">
            <a:extLst>
              <a:ext uri="{FF2B5EF4-FFF2-40B4-BE49-F238E27FC236}">
                <a16:creationId xmlns:a16="http://schemas.microsoft.com/office/drawing/2014/main" id="{ECEC4F7E-720D-1723-7224-8979A2EEC44D}"/>
              </a:ext>
            </a:extLst>
          </p:cNvPr>
          <p:cNvPicPr>
            <a:picLocks noChangeAspect="1"/>
          </p:cNvPicPr>
          <p:nvPr/>
        </p:nvPicPr>
        <p:blipFill>
          <a:blip r:embed="rId4"/>
          <a:stretch>
            <a:fillRect/>
          </a:stretch>
        </p:blipFill>
        <p:spPr>
          <a:xfrm>
            <a:off x="810123" y="3924300"/>
            <a:ext cx="16667754" cy="5109999"/>
          </a:xfrm>
          <a:prstGeom prst="rect">
            <a:avLst/>
          </a:prstGeom>
          <a:ln>
            <a:noFill/>
          </a:ln>
          <a:effectLst>
            <a:softEdge rad="112500"/>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a:extLst>
            <a:ext uri="{FF2B5EF4-FFF2-40B4-BE49-F238E27FC236}">
              <a16:creationId xmlns:a16="http://schemas.microsoft.com/office/drawing/2014/main" id="{1130A492-CBFD-F45F-71AA-887DC1982DC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ADEBA78-AD18-CE3B-CCE5-BC7C04BDD659}"/>
              </a:ext>
            </a:extLst>
          </p:cNvPr>
          <p:cNvPicPr>
            <a:picLocks noChangeAspect="1"/>
          </p:cNvPicPr>
          <p:nvPr/>
        </p:nvPicPr>
        <p:blipFill>
          <a:blip r:embed="rId3"/>
          <a:stretch>
            <a:fillRect/>
          </a:stretch>
        </p:blipFill>
        <p:spPr>
          <a:xfrm>
            <a:off x="2552700" y="723900"/>
            <a:ext cx="13182600" cy="947032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30022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B5562F85-6713-CA8F-5B4E-C3E19621CEEB}"/>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E4176C7D-B91C-2308-05CE-DC1A3BE7D8FB}"/>
              </a:ext>
            </a:extLst>
          </p:cNvPr>
          <p:cNvGrpSpPr/>
          <p:nvPr/>
        </p:nvGrpSpPr>
        <p:grpSpPr>
          <a:xfrm>
            <a:off x="758482" y="3212636"/>
            <a:ext cx="5704431" cy="6426664"/>
            <a:chOff x="0" y="0"/>
            <a:chExt cx="1418473" cy="1692619"/>
          </a:xfrm>
        </p:grpSpPr>
        <p:sp>
          <p:nvSpPr>
            <p:cNvPr id="11" name="Freeform 11">
              <a:extLst>
                <a:ext uri="{FF2B5EF4-FFF2-40B4-BE49-F238E27FC236}">
                  <a16:creationId xmlns:a16="http://schemas.microsoft.com/office/drawing/2014/main" id="{3E928130-FBF5-0738-608D-05C25F077B34}"/>
                </a:ext>
              </a:extLst>
            </p:cNvPr>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sp>
        <p:sp>
          <p:nvSpPr>
            <p:cNvPr id="12" name="TextBox 12">
              <a:extLst>
                <a:ext uri="{FF2B5EF4-FFF2-40B4-BE49-F238E27FC236}">
                  <a16:creationId xmlns:a16="http://schemas.microsoft.com/office/drawing/2014/main" id="{26F360A2-7CF7-F1BC-A64C-8BAC67662CE9}"/>
                </a:ext>
              </a:extLst>
            </p:cNvPr>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sp>
        <p:nvSpPr>
          <p:cNvPr id="21" name="AutoShape 21">
            <a:extLst>
              <a:ext uri="{FF2B5EF4-FFF2-40B4-BE49-F238E27FC236}">
                <a16:creationId xmlns:a16="http://schemas.microsoft.com/office/drawing/2014/main" id="{1FB7A66B-BD53-33DC-3EBE-AAE15112CF72}"/>
              </a:ext>
            </a:extLst>
          </p:cNvPr>
          <p:cNvSpPr/>
          <p:nvPr/>
        </p:nvSpPr>
        <p:spPr>
          <a:xfrm>
            <a:off x="11430000" y="2628900"/>
            <a:ext cx="6492240" cy="0"/>
          </a:xfrm>
          <a:prstGeom prst="line">
            <a:avLst/>
          </a:prstGeom>
          <a:ln w="76200" cap="flat">
            <a:solidFill>
              <a:srgbClr val="0F4662"/>
            </a:solidFill>
            <a:prstDash val="solid"/>
            <a:headEnd type="none" w="sm" len="sm"/>
            <a:tailEnd type="none" w="sm" len="sm"/>
          </a:ln>
        </p:spPr>
      </p:sp>
      <p:sp>
        <p:nvSpPr>
          <p:cNvPr id="25" name="TextBox 14">
            <a:extLst>
              <a:ext uri="{FF2B5EF4-FFF2-40B4-BE49-F238E27FC236}">
                <a16:creationId xmlns:a16="http://schemas.microsoft.com/office/drawing/2014/main" id="{AC67CCEE-ED5B-93E7-493A-233DCF44E04B}"/>
              </a:ext>
            </a:extLst>
          </p:cNvPr>
          <p:cNvSpPr txBox="1"/>
          <p:nvPr/>
        </p:nvSpPr>
        <p:spPr>
          <a:xfrm>
            <a:off x="471286" y="261481"/>
            <a:ext cx="17664313" cy="2253181"/>
          </a:xfrm>
          <a:prstGeom prst="rect">
            <a:avLst/>
          </a:prstGeom>
        </p:spPr>
        <p:txBody>
          <a:bodyPr wrap="square" lIns="0" tIns="0" rIns="0" bIns="0" rtlCol="0" anchor="t">
            <a:spAutoFit/>
          </a:bodyPr>
          <a:lstStyle/>
          <a:p>
            <a:pPr algn="ctr">
              <a:lnSpc>
                <a:spcPts val="8959"/>
              </a:lnSpc>
              <a:spcBef>
                <a:spcPct val="0"/>
              </a:spcBef>
            </a:pPr>
            <a:r>
              <a:rPr lang="de-DE" sz="6399" b="1" i="1" dirty="0">
                <a:solidFill>
                  <a:srgbClr val="0F4662"/>
                </a:solidFill>
                <a:latin typeface="Cormorant Garamond Bold Italics"/>
              </a:rPr>
              <a:t>Klassifizierung der Länder nach Gesundheits- und Ausgabenindikatoren</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26" name="Rectangle 1">
            <a:extLst>
              <a:ext uri="{FF2B5EF4-FFF2-40B4-BE49-F238E27FC236}">
                <a16:creationId xmlns:a16="http://schemas.microsoft.com/office/drawing/2014/main" id="{D7CC2428-2E31-465B-0C1A-326CEFA4F9B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DE"/>
          </a:p>
        </p:txBody>
      </p:sp>
      <p:grpSp>
        <p:nvGrpSpPr>
          <p:cNvPr id="27" name="Group 10">
            <a:extLst>
              <a:ext uri="{FF2B5EF4-FFF2-40B4-BE49-F238E27FC236}">
                <a16:creationId xmlns:a16="http://schemas.microsoft.com/office/drawing/2014/main" id="{191F8BBA-58A0-8E34-5F58-0DE14D25E0DE}"/>
              </a:ext>
            </a:extLst>
          </p:cNvPr>
          <p:cNvGrpSpPr/>
          <p:nvPr/>
        </p:nvGrpSpPr>
        <p:grpSpPr>
          <a:xfrm>
            <a:off x="6781800" y="2628900"/>
            <a:ext cx="11034913" cy="7112463"/>
            <a:chOff x="0" y="-123825"/>
            <a:chExt cx="1418473" cy="1816444"/>
          </a:xfrm>
        </p:grpSpPr>
        <p:sp>
          <p:nvSpPr>
            <p:cNvPr id="28" name="Freeform 11">
              <a:extLst>
                <a:ext uri="{FF2B5EF4-FFF2-40B4-BE49-F238E27FC236}">
                  <a16:creationId xmlns:a16="http://schemas.microsoft.com/office/drawing/2014/main" id="{B6385E52-5767-277B-C8BA-E2ADCA39171B}"/>
                </a:ext>
              </a:extLst>
            </p:cNvPr>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sp>
        <p:sp>
          <p:nvSpPr>
            <p:cNvPr id="29" name="TextBox 12">
              <a:extLst>
                <a:ext uri="{FF2B5EF4-FFF2-40B4-BE49-F238E27FC236}">
                  <a16:creationId xmlns:a16="http://schemas.microsoft.com/office/drawing/2014/main" id="{C979806D-1FC0-B227-FAB0-6967BE1ECCF9}"/>
                </a:ext>
              </a:extLst>
            </p:cNvPr>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pic>
        <p:nvPicPr>
          <p:cNvPr id="15" name="Picture 14">
            <a:extLst>
              <a:ext uri="{FF2B5EF4-FFF2-40B4-BE49-F238E27FC236}">
                <a16:creationId xmlns:a16="http://schemas.microsoft.com/office/drawing/2014/main" id="{B317275A-EA2A-BD94-45B4-DC6CBD68C6B5}"/>
              </a:ext>
            </a:extLst>
          </p:cNvPr>
          <p:cNvPicPr>
            <a:picLocks noChangeAspect="1"/>
          </p:cNvPicPr>
          <p:nvPr/>
        </p:nvPicPr>
        <p:blipFill>
          <a:blip r:embed="rId3"/>
          <a:stretch>
            <a:fillRect/>
          </a:stretch>
        </p:blipFill>
        <p:spPr>
          <a:xfrm>
            <a:off x="4454737" y="8891526"/>
            <a:ext cx="1987652" cy="787440"/>
          </a:xfrm>
          <a:prstGeom prst="rect">
            <a:avLst/>
          </a:prstGeom>
        </p:spPr>
      </p:pic>
      <p:pic>
        <p:nvPicPr>
          <p:cNvPr id="3" name="Picture 2">
            <a:extLst>
              <a:ext uri="{FF2B5EF4-FFF2-40B4-BE49-F238E27FC236}">
                <a16:creationId xmlns:a16="http://schemas.microsoft.com/office/drawing/2014/main" id="{47A54B10-2A4B-464A-B2F7-0E1BE272C912}"/>
              </a:ext>
            </a:extLst>
          </p:cNvPr>
          <p:cNvPicPr>
            <a:picLocks noChangeAspect="1"/>
          </p:cNvPicPr>
          <p:nvPr/>
        </p:nvPicPr>
        <p:blipFill>
          <a:blip r:embed="rId4"/>
          <a:stretch>
            <a:fillRect/>
          </a:stretch>
        </p:blipFill>
        <p:spPr>
          <a:xfrm>
            <a:off x="7270056" y="3166413"/>
            <a:ext cx="10058400" cy="6519109"/>
          </a:xfrm>
          <a:prstGeom prst="rect">
            <a:avLst/>
          </a:prstGeom>
        </p:spPr>
      </p:pic>
      <p:pic>
        <p:nvPicPr>
          <p:cNvPr id="6" name="Picture 5">
            <a:extLst>
              <a:ext uri="{FF2B5EF4-FFF2-40B4-BE49-F238E27FC236}">
                <a16:creationId xmlns:a16="http://schemas.microsoft.com/office/drawing/2014/main" id="{0AF5C0C5-77B6-FBC8-8701-02A63D561B9E}"/>
              </a:ext>
            </a:extLst>
          </p:cNvPr>
          <p:cNvPicPr>
            <a:picLocks noChangeAspect="1"/>
          </p:cNvPicPr>
          <p:nvPr/>
        </p:nvPicPr>
        <p:blipFill>
          <a:blip r:embed="rId5"/>
          <a:stretch>
            <a:fillRect/>
          </a:stretch>
        </p:blipFill>
        <p:spPr>
          <a:xfrm>
            <a:off x="758482" y="3658971"/>
            <a:ext cx="5683907" cy="5232579"/>
          </a:xfrm>
          <a:prstGeom prst="rect">
            <a:avLst/>
          </a:prstGeom>
        </p:spPr>
      </p:pic>
    </p:spTree>
    <p:extLst>
      <p:ext uri="{BB962C8B-B14F-4D97-AF65-F5344CB8AC3E}">
        <p14:creationId xmlns:p14="http://schemas.microsoft.com/office/powerpoint/2010/main" val="1927497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599709"/>
            <a:ext cx="11534821" cy="1099019"/>
          </a:xfrm>
          <a:prstGeom prst="rect">
            <a:avLst/>
          </a:prstGeom>
        </p:spPr>
        <p:txBody>
          <a:bodyPr lIns="0" tIns="0" rIns="0" bIns="0" rtlCol="0" anchor="t">
            <a:spAutoFit/>
          </a:bodyPr>
          <a:lstStyle/>
          <a:p>
            <a:pPr lvl="0">
              <a:lnSpc>
                <a:spcPts val="8959"/>
              </a:lnSpc>
              <a:spcBef>
                <a:spcPct val="0"/>
              </a:spcBef>
            </a:pPr>
            <a:r>
              <a:rPr lang="en-US" sz="6399" b="1" i="1" dirty="0" err="1">
                <a:solidFill>
                  <a:srgbClr val="0F4662"/>
                </a:solidFill>
                <a:latin typeface="Cormorant Garamond Bold Italics"/>
                <a:sym typeface="Cormorant Garamond Bold Italics"/>
              </a:rPr>
              <a:t>Ergebnisse</a:t>
            </a:r>
            <a:r>
              <a:rPr lang="en-US" sz="6399" b="1" i="1" dirty="0">
                <a:solidFill>
                  <a:srgbClr val="0F4662"/>
                </a:solidFill>
                <a:latin typeface="Cormorant Garamond Bold Italics"/>
                <a:sym typeface="Cormorant Garamond Bold Italics"/>
              </a:rPr>
              <a:t> und </a:t>
            </a:r>
            <a:r>
              <a:rPr lang="en-US" sz="6399" b="1" i="1" dirty="0" err="1">
                <a:solidFill>
                  <a:srgbClr val="0F4662"/>
                </a:solidFill>
                <a:latin typeface="Cormorant Garamond Bold Italics"/>
                <a:sym typeface="Cormorant Garamond Bold Italics"/>
              </a:rPr>
              <a:t>Auswertung</a:t>
            </a:r>
            <a:endParaRPr lang="en-US" sz="6399" b="1" i="1" dirty="0">
              <a:solidFill>
                <a:srgbClr val="0F4662"/>
              </a:solidFill>
              <a:latin typeface="Cormorant Garamond Bold Italics"/>
              <a:sym typeface="Cormorant Garamond Bold Italics"/>
            </a:endParaRPr>
          </a:p>
        </p:txBody>
      </p:sp>
      <p:sp>
        <p:nvSpPr>
          <p:cNvPr id="3" name="TextBox 3"/>
          <p:cNvSpPr txBox="1"/>
          <p:nvPr/>
        </p:nvSpPr>
        <p:spPr>
          <a:xfrm>
            <a:off x="457200" y="3924300"/>
            <a:ext cx="17297400" cy="3097130"/>
          </a:xfrm>
          <a:prstGeom prst="rect">
            <a:avLst/>
          </a:prstGeom>
        </p:spPr>
        <p:txBody>
          <a:bodyPr wrap="square" lIns="0" tIns="0" rIns="0" bIns="0" rtlCol="0" anchor="t">
            <a:spAutoFit/>
          </a:bodyPr>
          <a:lstStyle/>
          <a:p>
            <a:pPr lvl="0" algn="just">
              <a:lnSpc>
                <a:spcPts val="4079"/>
              </a:lnSpc>
            </a:pPr>
            <a:r>
              <a:rPr lang="de-DE" sz="2400" dirty="0">
                <a:solidFill>
                  <a:srgbClr val="0F4662"/>
                </a:solidFill>
                <a:latin typeface="Quicksand"/>
              </a:rPr>
              <a:t>• Mit den globalen Zahngesundheitsdaten der Weltgesundheitsorganisation (WHO) wurden die Gesundheitsausgaben der Länder, die Indikatoren der Mundgesundheit und die Fälle von Mundkrebs analysiert.</a:t>
            </a:r>
          </a:p>
          <a:p>
            <a:pPr lvl="0" algn="just">
              <a:lnSpc>
                <a:spcPts val="4079"/>
              </a:lnSpc>
            </a:pPr>
            <a:r>
              <a:rPr lang="de-DE" sz="2400" dirty="0">
                <a:solidFill>
                  <a:srgbClr val="0F4662"/>
                </a:solidFill>
                <a:latin typeface="Quicksand"/>
              </a:rPr>
              <a:t>• Die Länder wurden nach ihren Gesundheitsausgaben mit Cluster- und Klassifikationsmethoden in Gruppen eingeteilt; der durch Mundkrankheiten verursachte Arbeitskraftverlust wurde mit Regressionsmodellen geschätzt.</a:t>
            </a:r>
          </a:p>
          <a:p>
            <a:pPr lvl="0" algn="just">
              <a:lnSpc>
                <a:spcPts val="4079"/>
              </a:lnSpc>
            </a:pPr>
            <a:r>
              <a:rPr lang="de-DE" sz="2400" dirty="0">
                <a:solidFill>
                  <a:srgbClr val="0F4662"/>
                </a:solidFill>
                <a:latin typeface="Quicksand"/>
              </a:rPr>
              <a:t>• Die Ergebnisse zeigen den Zusammenhang zwischen Mundgesundheit und wirtschaftlichen Auswirkungen auf globaler Ebene und bieten eine wichtige Grundlage für politische Entscheidungsträger.</a:t>
            </a:r>
          </a:p>
        </p:txBody>
      </p:sp>
      <p:sp>
        <p:nvSpPr>
          <p:cNvPr id="4" name="AutoShape 4"/>
          <p:cNvSpPr/>
          <p:nvPr/>
        </p:nvSpPr>
        <p:spPr>
          <a:xfrm>
            <a:off x="5897880" y="3568974"/>
            <a:ext cx="6492240" cy="0"/>
          </a:xfrm>
          <a:prstGeom prst="line">
            <a:avLst/>
          </a:prstGeom>
          <a:ln w="76200" cap="flat">
            <a:solidFill>
              <a:srgbClr val="0F4662"/>
            </a:solidFill>
            <a:prstDash val="solid"/>
            <a:headEnd type="none" w="sm" len="sm"/>
            <a:tailEnd type="none" w="sm" len="sm"/>
          </a:ln>
        </p:spPr>
      </p:sp>
      <p:sp>
        <p:nvSpPr>
          <p:cNvPr id="5" name="AutoShape 5"/>
          <p:cNvSpPr/>
          <p:nvPr/>
        </p:nvSpPr>
        <p:spPr>
          <a:xfrm>
            <a:off x="5897880" y="7171009"/>
            <a:ext cx="6492240" cy="0"/>
          </a:xfrm>
          <a:prstGeom prst="line">
            <a:avLst/>
          </a:prstGeom>
          <a:ln w="76200" cap="flat">
            <a:solidFill>
              <a:srgbClr val="0F4662"/>
            </a:solidFill>
            <a:prstDash val="solid"/>
            <a:headEnd type="none" w="sm" len="sm"/>
            <a:tailEnd type="none" w="sm" len="sm"/>
          </a:ln>
        </p:spPr>
      </p:sp>
      <p:sp>
        <p:nvSpPr>
          <p:cNvPr id="6" name="Freeform 6"/>
          <p:cNvSpPr/>
          <p:nvPr/>
        </p:nvSpPr>
        <p:spPr>
          <a:xfrm>
            <a:off x="8304001" y="2470557"/>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8304001" y="8019527"/>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2644140" y="3063600"/>
            <a:ext cx="12954000" cy="3171061"/>
          </a:xfrm>
          <a:prstGeom prst="rect">
            <a:avLst/>
          </a:prstGeom>
        </p:spPr>
        <p:txBody>
          <a:bodyPr wrap="square" lIns="0" tIns="0" rIns="0" bIns="0" rtlCol="0" anchor="t">
            <a:spAutoFit/>
          </a:bodyPr>
          <a:lstStyle/>
          <a:p>
            <a:pPr lvl="0" algn="ctr">
              <a:lnSpc>
                <a:spcPct val="150000"/>
              </a:lnSpc>
              <a:spcBef>
                <a:spcPct val="0"/>
              </a:spcBef>
            </a:pPr>
            <a:r>
              <a:rPr lang="en-US" sz="7200" b="1" i="1" dirty="0">
                <a:solidFill>
                  <a:srgbClr val="0F4662"/>
                </a:solidFill>
                <a:latin typeface="Cormorant Garamond Bold Italics"/>
                <a:ea typeface="Cormorant Garamond Bold Italics"/>
                <a:cs typeface="Cormorant Garamond Bold Italics"/>
                <a:sym typeface="Cormorant Garamond Bold Italics"/>
              </a:rPr>
              <a:t>Danke für </a:t>
            </a:r>
          </a:p>
          <a:p>
            <a:pPr lvl="0" algn="ctr">
              <a:lnSpc>
                <a:spcPct val="150000"/>
              </a:lnSpc>
              <a:spcBef>
                <a:spcPct val="0"/>
              </a:spcBef>
            </a:pPr>
            <a:r>
              <a:rPr lang="en-US" sz="7200" b="1" i="1" dirty="0" err="1">
                <a:solidFill>
                  <a:srgbClr val="0F4662"/>
                </a:solidFill>
                <a:latin typeface="Cormorant Garamond Bold Italics"/>
                <a:ea typeface="Cormorant Garamond Bold Italics"/>
                <a:cs typeface="Cormorant Garamond Bold Italics"/>
                <a:sym typeface="Cormorant Garamond Bold Italics"/>
              </a:rPr>
              <a:t>Ihre</a:t>
            </a:r>
            <a:r>
              <a:rPr lang="en-US" sz="7200" b="1" i="1" dirty="0">
                <a:solidFill>
                  <a:srgbClr val="0F4662"/>
                </a:solidFill>
                <a:latin typeface="Cormorant Garamond Bold Italics"/>
                <a:ea typeface="Cormorant Garamond Bold Italics"/>
                <a:cs typeface="Cormorant Garamond Bold Italics"/>
                <a:sym typeface="Cormorant Garamond Bold Italics"/>
              </a:rPr>
              <a:t> </a:t>
            </a:r>
            <a:r>
              <a:rPr lang="en-US" sz="7200" b="1" i="1" dirty="0" err="1">
                <a:solidFill>
                  <a:srgbClr val="0F4662"/>
                </a:solidFill>
                <a:latin typeface="Cormorant Garamond Bold Italics"/>
                <a:ea typeface="Cormorant Garamond Bold Italics"/>
                <a:cs typeface="Cormorant Garamond Bold Italics"/>
                <a:sym typeface="Cormorant Garamond Bold Italics"/>
              </a:rPr>
              <a:t>Aufmerksamkeit</a:t>
            </a:r>
            <a:endParaRPr lang="en-US" sz="7200"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3" name="AutoShape 3"/>
          <p:cNvSpPr/>
          <p:nvPr/>
        </p:nvSpPr>
        <p:spPr>
          <a:xfrm>
            <a:off x="5897880" y="2215083"/>
            <a:ext cx="6492240" cy="0"/>
          </a:xfrm>
          <a:prstGeom prst="line">
            <a:avLst/>
          </a:prstGeom>
          <a:ln w="76200" cap="flat">
            <a:solidFill>
              <a:srgbClr val="0F4662"/>
            </a:solidFill>
            <a:prstDash val="solid"/>
            <a:headEnd type="none" w="sm" len="sm"/>
            <a:tailEnd type="none" w="sm" len="sm"/>
          </a:ln>
        </p:spPr>
      </p:sp>
      <p:sp>
        <p:nvSpPr>
          <p:cNvPr id="4" name="Freeform 4"/>
          <p:cNvSpPr/>
          <p:nvPr/>
        </p:nvSpPr>
        <p:spPr>
          <a:xfrm>
            <a:off x="8304001" y="1116666"/>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AutoShape 5"/>
          <p:cNvSpPr/>
          <p:nvPr/>
        </p:nvSpPr>
        <p:spPr>
          <a:xfrm>
            <a:off x="5897880" y="8159883"/>
            <a:ext cx="6492240" cy="0"/>
          </a:xfrm>
          <a:prstGeom prst="line">
            <a:avLst/>
          </a:prstGeom>
          <a:ln w="76200" cap="flat">
            <a:solidFill>
              <a:srgbClr val="0F4662"/>
            </a:solidFill>
            <a:prstDash val="solid"/>
            <a:headEnd type="none" w="sm" len="sm"/>
            <a:tailEnd type="none" w="sm" len="sm"/>
          </a:ln>
        </p:spPr>
      </p:sp>
      <p:sp>
        <p:nvSpPr>
          <p:cNvPr id="6" name="Freeform 6"/>
          <p:cNvSpPr/>
          <p:nvPr/>
        </p:nvSpPr>
        <p:spPr>
          <a:xfrm>
            <a:off x="8304001" y="900840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8">
            <a:extLst>
              <a:ext uri="{FF2B5EF4-FFF2-40B4-BE49-F238E27FC236}">
                <a16:creationId xmlns:a16="http://schemas.microsoft.com/office/drawing/2014/main" id="{69A87E07-BFA6-F7FC-0100-F3D55482FD4F}"/>
              </a:ext>
            </a:extLst>
          </p:cNvPr>
          <p:cNvSpPr txBox="1"/>
          <p:nvPr/>
        </p:nvSpPr>
        <p:spPr>
          <a:xfrm>
            <a:off x="13182600" y="9275100"/>
            <a:ext cx="4831080" cy="800091"/>
          </a:xfrm>
          <a:prstGeom prst="rect">
            <a:avLst/>
          </a:prstGeom>
          <a:noFill/>
        </p:spPr>
        <p:txBody>
          <a:bodyPr wrap="square">
            <a:spAutoFit/>
          </a:bodyPr>
          <a:lstStyle/>
          <a:p>
            <a:r>
              <a:rPr lang="en-US" sz="2799" b="1" dirty="0">
                <a:solidFill>
                  <a:srgbClr val="0F4662"/>
                </a:solidFill>
                <a:latin typeface="Quicksand Bold"/>
              </a:rPr>
              <a:t>               </a:t>
            </a:r>
            <a:r>
              <a:rPr lang="en-US" sz="2799" b="1" dirty="0" err="1">
                <a:solidFill>
                  <a:srgbClr val="0F4662"/>
                </a:solidFill>
                <a:latin typeface="Quicksand Bold"/>
              </a:rPr>
              <a:t>DataSmile</a:t>
            </a:r>
            <a:r>
              <a:rPr lang="en-US" sz="2799" b="1" dirty="0">
                <a:solidFill>
                  <a:srgbClr val="0F4662"/>
                </a:solidFill>
                <a:latin typeface="Quicksand Bold"/>
              </a:rPr>
              <a:t> </a:t>
            </a:r>
            <a:r>
              <a:rPr lang="en-US" sz="2799" b="1" dirty="0">
                <a:solidFill>
                  <a:srgbClr val="0F4662"/>
                </a:solidFill>
                <a:latin typeface="Quicksand Bold"/>
                <a:sym typeface="Wingdings" panose="05000000000000000000" pitchFamily="2" charset="2"/>
              </a:rPr>
              <a:t></a:t>
            </a:r>
            <a:br>
              <a:rPr lang="en-US" dirty="0"/>
            </a:br>
            <a:r>
              <a:rPr lang="en-US" i="1" dirty="0" err="1"/>
              <a:t>Gümrah</a:t>
            </a:r>
            <a:r>
              <a:rPr lang="en-US" i="1" dirty="0"/>
              <a:t> Duygu </a:t>
            </a:r>
            <a:r>
              <a:rPr lang="en-US" i="1" dirty="0" err="1"/>
              <a:t>Çulhacık</a:t>
            </a:r>
            <a:r>
              <a:rPr lang="en-US" i="1" dirty="0"/>
              <a:t> | Nesrin Çelebioğlu</a:t>
            </a:r>
            <a:endParaRPr lang="en-DE"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785</Words>
  <Application>Microsoft Office PowerPoint</Application>
  <PresentationFormat>Custom</PresentationFormat>
  <Paragraphs>57</Paragraphs>
  <Slides>16</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Quicksand Bold</vt:lpstr>
      <vt:lpstr>Cormorant Garamond Bold Italics</vt:lpstr>
      <vt:lpstr>Quicksand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Simple Modern Enhancing Sales Strategy Presentation</dc:title>
  <dc:creator>Nesrin Çelebioğlu</dc:creator>
  <cp:lastModifiedBy>duygu çulhacik</cp:lastModifiedBy>
  <cp:revision>45</cp:revision>
  <dcterms:created xsi:type="dcterms:W3CDTF">2006-08-16T00:00:00Z</dcterms:created>
  <dcterms:modified xsi:type="dcterms:W3CDTF">2026-01-08T14:44:45Z</dcterms:modified>
  <dc:identifier>DAGzyGBTJqU</dc:identifier>
</cp:coreProperties>
</file>